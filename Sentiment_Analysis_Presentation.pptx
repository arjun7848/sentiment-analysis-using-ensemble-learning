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879b31c-ae2e-d1ab-5f51-549a150bded3}">
          <p14:sldIdLst>
            <p14:sldId id="256"/>
            <p14:sldId id="257"/>
            <p14:sldId id="258"/>
            <p14:sldId id="259"/>
            <p14:sldId id="260"/>
          </p14:sldIdLst>
        </p14:section>
        <p14:section name="Design" id="{58c30a79-bed3-b8be-a764-f45dc7bfb5b5}">
          <p14:sldIdLst>
            <p14:sldId id="261"/>
            <p14:sldId id="262"/>
          </p14:sldIdLst>
        </p14:section>
        <p14:section name="Implementation" id="{15e971de-5dd2-125d-d615-090b43a2cd5d}">
          <p14:sldIdLst>
            <p14:sldId id="263"/>
            <p14:sldId id="264"/>
            <p14:sldId id="265"/>
            <p14:sldId id="266"/>
          </p14:sldIdLst>
        </p14:section>
        <p14:section name="Results" id="{109f66c5-74d6-4d8a-6fbf-f8a58f5470a2}">
          <p14:sldIdLst>
            <p14:sldId id="267"/>
            <p14:sldId id="268"/>
            <p14:sldId id="269"/>
            <p14:sldId id="270"/>
          </p14:sldIdLst>
        </p14:section>
        <p14:section name="Conclusion" id="{a8b8ad10-4aab-e26c-dc9a-aec418cc884b}">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Class distribution after cleaning (61,121)</a:t>
            </a:r>
          </a:p>
        </c:rich>
      </c:tx>
      <c:layout/>
      <c:overlay val="0"/>
    </c:title>
    <c:autoTitleDeleted val="0"/>
    <c:plotArea>
      <c:layout/>
      <c:barChart>
        <c:barDir val="col"/>
        <c:grouping val="clustered"/>
        <c:varyColors val="0"/>
        <c:ser>
          <c:idx val="0"/>
          <c:order val="0"/>
          <c:tx>
            <c:strRef>
              <c:f>Sheet1!$B$1</c:f>
              <c:strCache>
                <c:ptCount val="1"/>
                <c:pt idx="0">
                  <c:v>Tweets</c:v>
                </c:pt>
              </c:strCache>
            </c:strRef>
          </c:tx>
          <c:spPr>
            <a:solidFill>
              <a:srgbClr val="C0392B"/>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2E7D32"/>
              </a:solidFill>
              <a:effectLst/>
            </c:spPr>
          </c:dPt>
          <c:dPt>
            <c:idx val="2"/>
            <c:invertIfNegative val="0"/>
            <c:bubble3D val="0"/>
            <c:spPr>
              <a:solidFill>
                <a:srgbClr val="D4A017"/>
              </a:solidFill>
              <a:effectLst/>
            </c:spPr>
          </c:dPt>
          <c:cat>
            <c:multiLvlStrRef>
              <c:f>Sheet1!$A$2:$A$4</c:f>
              <c:multiLvlStrCache>
                <c:ptCount val="3"/>
                <c:lvl>
                  <c:pt idx="0">
                    <c:v>Negative</c:v>
                  </c:pt>
                  <c:pt idx="1">
                    <c:v>Positive</c:v>
                  </c:pt>
                  <c:pt idx="2">
                    <c:v>Neutral</c:v>
                  </c:pt>
                </c:lvl>
              </c:multiLvlStrCache>
            </c:multiLvlStrRef>
          </c:cat>
          <c:val>
            <c:numRef>
              <c:f>Sheet1!$B$2:$B$4</c:f>
              <c:numCache>
                <c:formatCode>General</c:formatCode>
                <c:ptCount val="3"/>
                <c:pt idx="0">
                  <c:v>22358</c:v>
                </c:pt>
                <c:pt idx="1">
                  <c:v>20655</c:v>
                </c:pt>
                <c:pt idx="2">
                  <c:v>18108</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26000"/>
          <c:min val="0"/>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Random Forest per-class performance (y-axis starts at 0.80)</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17375E"/>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Positive</c:v>
                  </c:pt>
                  <c:pt idx="1">
                    <c:v>Negative</c:v>
                  </c:pt>
                  <c:pt idx="2">
                    <c:v>Neutral</c:v>
                  </c:pt>
                  <c:pt idx="3">
                    <c:v>Macro avg</c:v>
                  </c:pt>
                </c:lvl>
              </c:multiLvlStrCache>
            </c:multiLvlStrRef>
          </c:cat>
          <c:val>
            <c:numRef>
              <c:f>Sheet1!$B$2:$B$5</c:f>
              <c:numCache>
                <c:formatCode>General</c:formatCode>
                <c:ptCount val="4"/>
                <c:pt idx="0">
                  <c:v>0.92</c:v>
                </c:pt>
                <c:pt idx="1">
                  <c:v>0.89</c:v>
                </c:pt>
                <c:pt idx="2">
                  <c:v>0.92</c:v>
                </c:pt>
                <c:pt idx="3">
                  <c:v>0.91</c:v>
                </c:pt>
              </c:numCache>
            </c:numRef>
          </c:val>
        </c:ser>
        <c:ser>
          <c:idx val="1"/>
          <c:order val="1"/>
          <c:tx>
            <c:strRef>
              <c:f>Sheet1!$C$1</c:f>
              <c:strCache>
                <c:ptCount val="1"/>
                <c:pt idx="0">
                  <c:v>Recall</c:v>
                </c:pt>
              </c:strCache>
            </c:strRef>
          </c:tx>
          <c:spPr>
            <a:solidFill>
              <a:srgbClr val="1E8449"/>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Positive</c:v>
                  </c:pt>
                  <c:pt idx="1">
                    <c:v>Negative</c:v>
                  </c:pt>
                  <c:pt idx="2">
                    <c:v>Neutral</c:v>
                  </c:pt>
                  <c:pt idx="3">
                    <c:v>Macro avg</c:v>
                  </c:pt>
                </c:lvl>
              </c:multiLvlStrCache>
            </c:multiLvlStrRef>
          </c:cat>
          <c:val>
            <c:numRef>
              <c:f>Sheet1!$C$2:$C$5</c:f>
              <c:numCache>
                <c:formatCode>General</c:formatCode>
                <c:ptCount val="4"/>
                <c:pt idx="0">
                  <c:v>0.9</c:v>
                </c:pt>
                <c:pt idx="1">
                  <c:v>0.94</c:v>
                </c:pt>
                <c:pt idx="2">
                  <c:v>0.89</c:v>
                </c:pt>
                <c:pt idx="3">
                  <c:v>0.91</c:v>
                </c:pt>
              </c:numCache>
            </c:numRef>
          </c:val>
        </c:ser>
        <c:ser>
          <c:idx val="2"/>
          <c:order val="2"/>
          <c:tx>
            <c:strRef>
              <c:f>Sheet1!$D$1</c:f>
              <c:strCache>
                <c:ptCount val="1"/>
                <c:pt idx="0">
                  <c:v>F1-Score</c:v>
                </c:pt>
              </c:strCache>
            </c:strRef>
          </c:tx>
          <c:spPr>
            <a:solidFill>
              <a:srgbClr val="FF6600"/>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Positive</c:v>
                  </c:pt>
                  <c:pt idx="1">
                    <c:v>Negative</c:v>
                  </c:pt>
                  <c:pt idx="2">
                    <c:v>Neutral</c:v>
                  </c:pt>
                  <c:pt idx="3">
                    <c:v>Macro avg</c:v>
                  </c:pt>
                </c:lvl>
              </c:multiLvlStrCache>
            </c:multiLvlStrRef>
          </c:cat>
          <c:val>
            <c:numRef>
              <c:f>Sheet1!$D$2:$D$5</c:f>
              <c:numCache>
                <c:formatCode>General</c:formatCode>
                <c:ptCount val="4"/>
                <c:pt idx="0">
                  <c:v>0.91</c:v>
                </c:pt>
                <c:pt idx="1">
                  <c:v>0.91</c:v>
                </c:pt>
                <c:pt idx="2">
                  <c:v>0.9</c:v>
                </c:pt>
                <c:pt idx="3">
                  <c:v>0.91</c:v>
                </c:pt>
              </c:numCache>
            </c:numRef>
          </c:val>
        </c:ser>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DDDDD"/>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team and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dataset, TF-IDF features, Random Forest of 100 trees, hybrid rules, Flask app, 90.94%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sentiment analysis is needed and why ensembles are more reliable than a single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limitations of existing systems and read the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proposed solution and the eight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layers: browser, Flask page, prediction module (four steps),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steps in four groups. Steps 1-8 build the model, steps 9-11 run for each user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74,682 raw records, 61,121 after cleaning. Mention near-duplicate rows and possible label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seven steps using the example tweet; 13,561 records removed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TF-IDF 10,000 + character TF-IDF 5,000 = 15,000 features. Forest: 100 trees, balanced class weights, seed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stack and the role of each project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script output: counts, shapes, split, accuracy and saved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90.94% on 12,225 test tweets; discuss per-class precision, recall and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matrix: rows are actual classes, columns are predicted classes; the diagonal is correct predictions and the off-diagonal cells show which classes are confused.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application screenshots and the test sentences; all gave the expected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and state honest limitations: single model, no cross-validation, noisy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7315200"/>
            <a:ext cx="2743200" cy="274320"/>
          </a:xfrm>
          <a:prstGeom prst="rect">
            <a:avLst/>
          </a:prstGeom>
          <a:noFill/>
          <a:ln/>
        </p:spPr>
        <p:txBody>
          <a:bodyPr wrap="square" rtlCol="0" anchor="ctr"/>
          <a:lstStyle/>
          <a:p>
            <a:pPr indent="0" marL="0">
              <a:buNone/>
            </a:pPr>
            <a:r>
              <a:rPr lang="en-US" sz="900" dirty="0">
                <a:solidFill>
                  <a:schemeClr val="tx1"/>
                </a:solidFill>
              </a:rPr>
              <a:t>Final Review</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a/logo_small.jpeg">    </p:cNvPr>
          <p:cNvPicPr>
            <a:picLocks noChangeAspect="1"/>
          </p:cNvPicPr>
          <p:nvPr/>
        </p:nvPicPr>
        <p:blipFill>
          <a:blip r:embed="rId1"/>
          <a:stretch>
            <a:fillRect/>
          </a:stretch>
        </p:blipFill>
        <p:spPr>
          <a:xfrm>
            <a:off x="411480" y="228600"/>
            <a:ext cx="1188720" cy="434340"/>
          </a:xfrm>
          <a:prstGeom prst="rect">
            <a:avLst/>
          </a:prstGeom>
        </p:spPr>
      </p:pic>
      <p:sp>
        <p:nvSpPr>
          <p:cNvPr id="3" name="Text 0"/>
          <p:cNvSpPr/>
          <p:nvPr>
            <p:ph idx="101" type="title" hasCustomPrompt="1"/>
          </p:nvPr>
        </p:nvSpPr>
        <p:spPr>
          <a:xfrm>
            <a:off x="2377440" y="274320"/>
            <a:ext cx="5303520" cy="457200"/>
          </a:xfrm>
          <a:prstGeom prst="rect">
            <a:avLst/>
          </a:prstGeom>
          <a:noFill/>
          <a:ln/>
        </p:spPr>
        <p:txBody>
          <a:bodyPr wrap="square" rtlCol="0"/>
          <a:lstStyle>
            <a:lvl1pPr algn="ctr" indent="0" marL="0">
              <a:buNone/>
              <a:defRPr lang="en-US" sz="1600" b="1" dirty="0">
                <a:solidFill>
                  <a:schemeClr val="bg1"/>
                </a:solidFill>
              </a:defRPr>
            </a:lvl1pPr>
          </a:lstStyle>
          <a:p>
            <a:pPr algn="ctr" indent="0" marL="0">
              <a:buNone/>
            </a:pPr>
            <a:endParaRPr lang="en-US" sz="1600" dirty="0"/>
          </a:p>
        </p:txBody>
      </p:sp>
      <p:sp>
        <p:nvSpPr>
          <p:cNvPr id="4" name="Text 0"/>
          <p:cNvSpPr/>
          <p:nvPr/>
        </p:nvSpPr>
        <p:spPr>
          <a:xfrm>
            <a:off x="457200" y="7315200"/>
            <a:ext cx="2743200" cy="274320"/>
          </a:xfrm>
          <a:prstGeom prst="rect">
            <a:avLst/>
          </a:prstGeom>
          <a:noFill/>
          <a:ln/>
        </p:spPr>
        <p:txBody>
          <a:bodyPr wrap="square" rtlCol="0" anchor="ctr"/>
          <a:lstStyle/>
          <a:p>
            <a:pPr indent="0" marL="0">
              <a:buNone/>
            </a:pPr>
            <a:r>
              <a:rPr lang="en-US" sz="900" dirty="0">
                <a:solidFill>
                  <a:schemeClr val="tx1"/>
                </a:solidFill>
              </a:rPr>
              <a:t>Final Review</a:t>
            </a:r>
            <a:endParaRPr lang="en-US" sz="9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jpe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logo_wide.jpeg">    </p:cNvPr>
          <p:cNvPicPr>
            <a:picLocks noChangeAspect="1"/>
          </p:cNvPicPr>
          <p:nvPr/>
        </p:nvPicPr>
        <p:blipFill>
          <a:blip r:embed="rId1"/>
          <a:stretch>
            <a:fillRect/>
          </a:stretch>
        </p:blipFill>
        <p:spPr>
          <a:xfrm>
            <a:off x="2057400" y="822960"/>
            <a:ext cx="5943600" cy="768096"/>
          </a:xfrm>
          <a:prstGeom prst="rect">
            <a:avLst/>
          </a:prstGeom>
        </p:spPr>
      </p:pic>
      <p:sp>
        <p:nvSpPr>
          <p:cNvPr id="3" name="Text 0"/>
          <p:cNvSpPr txBox="1"/>
          <p:nvPr/>
        </p:nvSpPr>
        <p:spPr>
          <a:xfrm>
            <a:off x="731520" y="2103120"/>
            <a:ext cx="8595360" cy="914400"/>
          </a:xfrm>
          <a:prstGeom prst="rect">
            <a:avLst/>
          </a:prstGeom>
          <a:noFill/>
          <a:ln/>
        </p:spPr>
        <p:txBody>
          <a:bodyPr wrap="square" lIns="635" tIns="635" rIns="635" bIns="635" rtlCol="0" anchor="ctr"/>
          <a:lstStyle/>
          <a:p>
            <a:pPr algn="ctr" indent="0" marL="0">
              <a:buNone/>
            </a:pPr>
            <a:r>
              <a:rPr lang="en-US" sz="3000" b="1" dirty="0">
                <a:solidFill>
                  <a:schemeClr val="tx2"/>
                </a:solidFill>
              </a:rPr>
              <a:t>SENTIMENT ANALYSIS USING ENSEMBLE LEARNING</a:t>
            </a:r>
            <a:endParaRPr lang="en-US" sz="3000" dirty="0"/>
          </a:p>
        </p:txBody>
      </p:sp>
      <p:sp>
        <p:nvSpPr>
          <p:cNvPr id="4" name="Text 1"/>
          <p:cNvSpPr txBox="1"/>
          <p:nvPr/>
        </p:nvSpPr>
        <p:spPr>
          <a:xfrm>
            <a:off x="731520" y="3108960"/>
            <a:ext cx="8595360" cy="457200"/>
          </a:xfrm>
          <a:prstGeom prst="rect">
            <a:avLst/>
          </a:prstGeom>
          <a:noFill/>
          <a:ln/>
        </p:spPr>
        <p:txBody>
          <a:bodyPr wrap="square" lIns="635" tIns="635" rIns="635" bIns="635" rtlCol="0" anchor="t"/>
          <a:lstStyle/>
          <a:p>
            <a:pPr algn="ctr" indent="0" marL="0">
              <a:buNone/>
            </a:pPr>
            <a:r>
              <a:rPr lang="en-US" sz="2200" b="1" dirty="0">
                <a:solidFill>
                  <a:schemeClr val="accent1"/>
                </a:solidFill>
              </a:rPr>
              <a:t>Final Review</a:t>
            </a:r>
            <a:endParaRPr lang="en-US" sz="2200" dirty="0"/>
          </a:p>
        </p:txBody>
      </p:sp>
      <p:sp>
        <p:nvSpPr>
          <p:cNvPr id="5" name="Text 2"/>
          <p:cNvSpPr txBox="1"/>
          <p:nvPr/>
        </p:nvSpPr>
        <p:spPr>
          <a:xfrm>
            <a:off x="731520" y="3931920"/>
            <a:ext cx="8595360" cy="365760"/>
          </a:xfrm>
          <a:prstGeom prst="rect">
            <a:avLst/>
          </a:prstGeom>
          <a:noFill/>
          <a:ln/>
        </p:spPr>
        <p:txBody>
          <a:bodyPr wrap="square" lIns="635" tIns="635" rIns="635" bIns="635" rtlCol="0" anchor="t"/>
          <a:lstStyle/>
          <a:p>
            <a:pPr algn="ctr" indent="0" marL="0">
              <a:buNone/>
            </a:pPr>
            <a:r>
              <a:rPr lang="en-US" sz="1500" b="1" dirty="0">
                <a:solidFill>
                  <a:schemeClr val="tx2"/>
                </a:solidFill>
              </a:rPr>
              <a:t>Presented by</a:t>
            </a:r>
            <a:endParaRPr lang="en-US" sz="1500" dirty="0"/>
          </a:p>
        </p:txBody>
      </p:sp>
      <p:sp>
        <p:nvSpPr>
          <p:cNvPr id="6" name="Text 3"/>
          <p:cNvSpPr txBox="1"/>
          <p:nvPr/>
        </p:nvSpPr>
        <p:spPr>
          <a:xfrm>
            <a:off x="731520" y="4297680"/>
            <a:ext cx="8595360" cy="1371600"/>
          </a:xfrm>
          <a:prstGeom prst="rect">
            <a:avLst/>
          </a:prstGeom>
          <a:noFill/>
          <a:ln/>
        </p:spPr>
        <p:txBody>
          <a:bodyPr wrap="square" lIns="635" tIns="635" rIns="635" bIns="635" rtlCol="0" anchor="t"/>
          <a:lstStyle/>
          <a:p>
            <a:pPr algn="ctr" indent="0" marL="0">
              <a:spcAft>
                <a:spcPts val="300"/>
              </a:spcAft>
              <a:buNone/>
            </a:pPr>
            <a:r>
              <a:rPr lang="en-US" sz="1500" b="1" dirty="0">
                <a:solidFill>
                  <a:schemeClr val="tx2"/>
                </a:solidFill>
              </a:rPr>
              <a:t>K. Arjun – 25B21CS078</a:t>
            </a:r>
            <a:endParaRPr lang="en-US" sz="1500" dirty="0"/>
          </a:p>
          <a:p>
            <a:pPr algn="ctr" indent="0" marL="0">
              <a:spcAft>
                <a:spcPts val="300"/>
              </a:spcAft>
              <a:buNone/>
            </a:pPr>
            <a:r>
              <a:rPr lang="en-US" sz="1500" b="1" dirty="0">
                <a:solidFill>
                  <a:schemeClr val="tx2"/>
                </a:solidFill>
              </a:rPr>
              <a:t>K. Lokesh – 25B21CS080</a:t>
            </a:r>
            <a:endParaRPr lang="en-US" sz="1500" dirty="0"/>
          </a:p>
          <a:p>
            <a:pPr algn="ctr" indent="0" marL="0">
              <a:spcAft>
                <a:spcPts val="300"/>
              </a:spcAft>
              <a:buNone/>
            </a:pPr>
            <a:r>
              <a:rPr lang="en-US" sz="1500" b="1" dirty="0">
                <a:solidFill>
                  <a:schemeClr val="tx2"/>
                </a:solidFill>
              </a:rPr>
              <a:t>M. Durga Prasad – 25B21CS079</a:t>
            </a:r>
            <a:endParaRPr lang="en-US" sz="1500" dirty="0"/>
          </a:p>
          <a:p>
            <a:pPr algn="ctr" indent="0" marL="0">
              <a:spcAft>
                <a:spcPts val="300"/>
              </a:spcAft>
              <a:buNone/>
            </a:pPr>
            <a:r>
              <a:rPr lang="en-US" sz="1500" b="1" dirty="0">
                <a:solidFill>
                  <a:schemeClr val="tx2"/>
                </a:solidFill>
              </a:rPr>
              <a:t>N. Kalyan Venkat Reddy – 25B21CS075</a:t>
            </a:r>
            <a:endParaRPr lang="en-US" sz="1500" dirty="0"/>
          </a:p>
        </p:txBody>
      </p:sp>
      <p:sp>
        <p:nvSpPr>
          <p:cNvPr id="7" name="Text 4"/>
          <p:cNvSpPr txBox="1"/>
          <p:nvPr/>
        </p:nvSpPr>
        <p:spPr>
          <a:xfrm>
            <a:off x="731520" y="5806440"/>
            <a:ext cx="8595360" cy="365760"/>
          </a:xfrm>
          <a:prstGeom prst="rect">
            <a:avLst/>
          </a:prstGeom>
          <a:noFill/>
          <a:ln/>
        </p:spPr>
        <p:txBody>
          <a:bodyPr wrap="square" lIns="635" tIns="635" rIns="635" bIns="635" rtlCol="0" anchor="t"/>
          <a:lstStyle/>
          <a:p>
            <a:pPr algn="ctr" indent="0" marL="0">
              <a:buNone/>
            </a:pPr>
            <a:r>
              <a:rPr lang="en-US" sz="1500" dirty="0">
                <a:solidFill>
                  <a:schemeClr val="tx1"/>
                </a:solidFill>
              </a:rPr>
              <a:t>Project Guide: Dr. B. Sindhu, Assistant Professor</a:t>
            </a:r>
            <a:endParaRPr lang="en-US" sz="1500" dirty="0"/>
          </a:p>
        </p:txBody>
      </p:sp>
      <p:sp>
        <p:nvSpPr>
          <p:cNvPr id="8" name="Text 5"/>
          <p:cNvSpPr txBox="1"/>
          <p:nvPr/>
        </p:nvSpPr>
        <p:spPr>
          <a:xfrm>
            <a:off x="731520" y="6309360"/>
            <a:ext cx="8595360" cy="731520"/>
          </a:xfrm>
          <a:prstGeom prst="rect">
            <a:avLst/>
          </a:prstGeom>
          <a:noFill/>
          <a:ln/>
        </p:spPr>
        <p:txBody>
          <a:bodyPr wrap="square" lIns="635" tIns="635" rIns="635" bIns="635" rtlCol="0" anchor="t"/>
          <a:lstStyle/>
          <a:p>
            <a:pPr algn="ctr" indent="0" marL="0">
              <a:buNone/>
            </a:pPr>
            <a:r>
              <a:rPr lang="en-US" sz="1500" b="1" dirty="0">
                <a:solidFill>
                  <a:schemeClr val="accent4"/>
                </a:solidFill>
              </a:rPr>
              <a:t>Department of Computer Science and Engineering</a:t>
            </a:r>
            <a:endParaRPr lang="en-US" sz="1500" dirty="0"/>
          </a:p>
          <a:p>
            <a:pPr algn="ctr" indent="0" marL="0">
              <a:buNone/>
            </a:pPr>
            <a:r>
              <a:rPr lang="en-US" sz="1500" b="1" dirty="0">
                <a:solidFill>
                  <a:schemeClr val="accent4"/>
                </a:solidFill>
              </a:rPr>
              <a:t>Aditya University</a:t>
            </a:r>
            <a:endParaRPr lang="en-US" sz="1500" dirty="0"/>
          </a:p>
        </p:txBody>
      </p:sp>
      <p:sp>
        <p:nvSpPr>
          <p:cNvPr id="9" name="Text 6"/>
          <p:cNvSpPr txBox="1"/>
          <p:nvPr/>
        </p:nvSpPr>
        <p:spPr>
          <a:xfrm>
            <a:off x="731520" y="6949440"/>
            <a:ext cx="8595360" cy="274320"/>
          </a:xfrm>
          <a:prstGeom prst="rect">
            <a:avLst/>
          </a:prstGeom>
          <a:noFill/>
          <a:ln/>
        </p:spPr>
        <p:txBody>
          <a:bodyPr wrap="square" lIns="635" tIns="635" rIns="635" bIns="635" rtlCol="0" anchor="t"/>
          <a:lstStyle/>
          <a:p>
            <a:pPr algn="ctr" indent="0" marL="0">
              <a:buNone/>
            </a:pPr>
            <a:r>
              <a:rPr lang="en-US" sz="1200" dirty="0">
                <a:solidFill>
                  <a:schemeClr val="tx1"/>
                </a:solidFill>
              </a:rPr>
              <a:t>B.Tech – Machine Learning  |  Academic Year 2026–2027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ABSTRACT</a:t>
            </a:r>
            <a:endParaRPr lang="en-US" sz="1600" dirty="0"/>
          </a:p>
        </p:txBody>
      </p:sp>
      <p:sp>
        <p:nvSpPr>
          <p:cNvPr id="4" name="Text 2"/>
          <p:cNvSpPr txBox="1"/>
          <p:nvPr/>
        </p:nvSpPr>
        <p:spPr>
          <a:xfrm>
            <a:off x="640080" y="1097280"/>
            <a:ext cx="8778240" cy="3017520"/>
          </a:xfrm>
          <a:prstGeom prst="rect">
            <a:avLst/>
          </a:prstGeom>
          <a:noFill/>
          <a:ln/>
        </p:spPr>
        <p:txBody>
          <a:bodyPr wrap="square" lIns="635" tIns="635" rIns="635" bIns="635" rtlCol="0" anchor="t"/>
          <a:lstStyle/>
          <a:p>
            <a:pPr algn="just" indent="0" marL="0">
              <a:lnSpc>
                <a:spcPct val="115000"/>
              </a:lnSpc>
              <a:buNone/>
            </a:pPr>
            <a:r>
              <a:rPr lang="en-US" sz="1700" b="1" dirty="0">
                <a:solidFill>
                  <a:schemeClr val="tx1"/>
                </a:solidFill>
              </a:rPr>
              <a:t>Sentiment analysis identifies the opinion expressed in text. </a:t>
            </a:r>
            <a:pPr algn="just" indent="0" marL="0">
              <a:lnSpc>
                <a:spcPct val="115000"/>
              </a:lnSpc>
              <a:buNone/>
            </a:pPr>
            <a:r>
              <a:rPr lang="en-US" sz="1700" dirty="0">
                <a:solidFill>
                  <a:schemeClr val="tx1"/>
                </a:solidFill>
              </a:rPr>
              <a:t>This project classifies tweets as Positive, Negative or Neutral using the Twitter Entity Sentiment Analysis dataset from Kaggle. Tweets are cleaned and converted into numbers using Word-level and Character-level TF-IDF, so informal language and spelling variations are captured. A Random Forest of 100 decision trees is trained on these features, and a hybrid approach adds rule-based analysis to the prediction. The system is used through a Flask web interface and reaches 90.94% accuracy on 12,225 unseen test tweets.</a:t>
            </a:r>
            <a:endParaRPr lang="en-US" sz="1700" dirty="0"/>
          </a:p>
        </p:txBody>
      </p:sp>
      <p:sp>
        <p:nvSpPr>
          <p:cNvPr id="5" name="stat"/>
          <p:cNvSpPr/>
          <p:nvPr/>
        </p:nvSpPr>
        <p:spPr>
          <a:xfrm>
            <a:off x="640080" y="4572000"/>
            <a:ext cx="2057400" cy="1828800"/>
          </a:xfrm>
          <a:prstGeom prst="roundRect">
            <a:avLst>
              <a:gd name="adj" fmla="val 4000"/>
            </a:avLst>
          </a:prstGeom>
          <a:solidFill>
            <a:schemeClr val="bg2"/>
          </a:solidFill>
          <a:ln w="12700">
            <a:solidFill>
              <a:schemeClr val="accent2"/>
            </a:solidFill>
            <a:prstDash val="solid"/>
          </a:ln>
        </p:spPr>
      </p:sp>
      <p:sp>
        <p:nvSpPr>
          <p:cNvPr id="6" name="Text 4"/>
          <p:cNvSpPr txBox="1"/>
          <p:nvPr/>
        </p:nvSpPr>
        <p:spPr>
          <a:xfrm>
            <a:off x="640080" y="4800600"/>
            <a:ext cx="2057400" cy="731520"/>
          </a:xfrm>
          <a:prstGeom prst="rect">
            <a:avLst/>
          </a:prstGeom>
          <a:noFill/>
          <a:ln/>
        </p:spPr>
        <p:txBody>
          <a:bodyPr wrap="square" lIns="635" tIns="635" rIns="635" bIns="635" rtlCol="0" anchor="ctr"/>
          <a:lstStyle/>
          <a:p>
            <a:pPr algn="ctr" indent="0" marL="0">
              <a:buNone/>
            </a:pPr>
            <a:r>
              <a:rPr lang="en-US" sz="2000" b="1" dirty="0">
                <a:solidFill>
                  <a:schemeClr val="tx2"/>
                </a:solidFill>
              </a:rPr>
              <a:t>74,682 → 61,121</a:t>
            </a:r>
            <a:endParaRPr lang="en-US" sz="2000" dirty="0"/>
          </a:p>
        </p:txBody>
      </p:sp>
      <p:sp>
        <p:nvSpPr>
          <p:cNvPr id="7" name="Text 5"/>
          <p:cNvSpPr txBox="1"/>
          <p:nvPr/>
        </p:nvSpPr>
        <p:spPr>
          <a:xfrm>
            <a:off x="731520" y="5577840"/>
            <a:ext cx="1874520" cy="731520"/>
          </a:xfrm>
          <a:prstGeom prst="rect">
            <a:avLst/>
          </a:prstGeom>
          <a:noFill/>
          <a:ln/>
        </p:spPr>
        <p:txBody>
          <a:bodyPr wrap="square" lIns="635" tIns="635" rIns="635" bIns="635" rtlCol="0" anchor="t"/>
          <a:lstStyle/>
          <a:p>
            <a:pPr algn="ctr" indent="0" marL="0">
              <a:buNone/>
            </a:pPr>
            <a:r>
              <a:rPr lang="en-US" sz="1200" dirty="0">
                <a:solidFill>
                  <a:schemeClr val="tx1"/>
                </a:solidFill>
              </a:rPr>
              <a:t>records before / after cleaning</a:t>
            </a:r>
            <a:endParaRPr lang="en-US" sz="1200" dirty="0"/>
          </a:p>
        </p:txBody>
      </p:sp>
      <p:sp>
        <p:nvSpPr>
          <p:cNvPr id="8" name="stat"/>
          <p:cNvSpPr/>
          <p:nvPr/>
        </p:nvSpPr>
        <p:spPr>
          <a:xfrm>
            <a:off x="2880360" y="4572000"/>
            <a:ext cx="2057400" cy="1828800"/>
          </a:xfrm>
          <a:prstGeom prst="roundRect">
            <a:avLst>
              <a:gd name="adj" fmla="val 4000"/>
            </a:avLst>
          </a:prstGeom>
          <a:solidFill>
            <a:schemeClr val="bg2"/>
          </a:solidFill>
          <a:ln w="12700">
            <a:solidFill>
              <a:schemeClr val="accent2"/>
            </a:solidFill>
            <a:prstDash val="solid"/>
          </a:ln>
        </p:spPr>
      </p:sp>
      <p:sp>
        <p:nvSpPr>
          <p:cNvPr id="9" name="Text 7"/>
          <p:cNvSpPr txBox="1"/>
          <p:nvPr/>
        </p:nvSpPr>
        <p:spPr>
          <a:xfrm>
            <a:off x="2880360" y="4800600"/>
            <a:ext cx="2057400" cy="731520"/>
          </a:xfrm>
          <a:prstGeom prst="rect">
            <a:avLst/>
          </a:prstGeom>
          <a:noFill/>
          <a:ln/>
        </p:spPr>
        <p:txBody>
          <a:bodyPr wrap="square" lIns="635" tIns="635" rIns="635" bIns="635" rtlCol="0" anchor="ctr"/>
          <a:lstStyle/>
          <a:p>
            <a:pPr algn="ctr" indent="0" marL="0">
              <a:buNone/>
            </a:pPr>
            <a:r>
              <a:rPr lang="en-US" sz="2800" b="1" dirty="0">
                <a:solidFill>
                  <a:schemeClr val="tx2"/>
                </a:solidFill>
              </a:rPr>
              <a:t>15,000</a:t>
            </a:r>
            <a:endParaRPr lang="en-US" sz="2800" dirty="0"/>
          </a:p>
        </p:txBody>
      </p:sp>
      <p:sp>
        <p:nvSpPr>
          <p:cNvPr id="10" name="Text 8"/>
          <p:cNvSpPr txBox="1"/>
          <p:nvPr/>
        </p:nvSpPr>
        <p:spPr>
          <a:xfrm>
            <a:off x="2971800" y="5577840"/>
            <a:ext cx="1874520" cy="731520"/>
          </a:xfrm>
          <a:prstGeom prst="rect">
            <a:avLst/>
          </a:prstGeom>
          <a:noFill/>
          <a:ln/>
        </p:spPr>
        <p:txBody>
          <a:bodyPr wrap="square" lIns="635" tIns="635" rIns="635" bIns="635" rtlCol="0" anchor="t"/>
          <a:lstStyle/>
          <a:p>
            <a:pPr algn="ctr" indent="0" marL="0">
              <a:buNone/>
            </a:pPr>
            <a:r>
              <a:rPr lang="en-US" sz="1200" dirty="0">
                <a:solidFill>
                  <a:schemeClr val="tx1"/>
                </a:solidFill>
              </a:rPr>
              <a:t>Word + Character TF-IDF features</a:t>
            </a:r>
            <a:endParaRPr lang="en-US" sz="1200" dirty="0"/>
          </a:p>
        </p:txBody>
      </p:sp>
      <p:sp>
        <p:nvSpPr>
          <p:cNvPr id="11" name="stat"/>
          <p:cNvSpPr/>
          <p:nvPr/>
        </p:nvSpPr>
        <p:spPr>
          <a:xfrm>
            <a:off x="5120640" y="4572000"/>
            <a:ext cx="2057400" cy="1828800"/>
          </a:xfrm>
          <a:prstGeom prst="roundRect">
            <a:avLst>
              <a:gd name="adj" fmla="val 4000"/>
            </a:avLst>
          </a:prstGeom>
          <a:solidFill>
            <a:schemeClr val="bg2"/>
          </a:solidFill>
          <a:ln w="12700">
            <a:solidFill>
              <a:schemeClr val="accent2"/>
            </a:solidFill>
            <a:prstDash val="solid"/>
          </a:ln>
        </p:spPr>
      </p:sp>
      <p:sp>
        <p:nvSpPr>
          <p:cNvPr id="12" name="Text 10"/>
          <p:cNvSpPr txBox="1"/>
          <p:nvPr/>
        </p:nvSpPr>
        <p:spPr>
          <a:xfrm>
            <a:off x="5120640" y="4800600"/>
            <a:ext cx="2057400" cy="731520"/>
          </a:xfrm>
          <a:prstGeom prst="rect">
            <a:avLst/>
          </a:prstGeom>
          <a:noFill/>
          <a:ln/>
        </p:spPr>
        <p:txBody>
          <a:bodyPr wrap="square" lIns="635" tIns="635" rIns="635" bIns="635" rtlCol="0" anchor="ctr"/>
          <a:lstStyle/>
          <a:p>
            <a:pPr algn="ctr" indent="0" marL="0">
              <a:buNone/>
            </a:pPr>
            <a:r>
              <a:rPr lang="en-US" sz="2800" b="1" dirty="0">
                <a:solidFill>
                  <a:schemeClr val="tx2"/>
                </a:solidFill>
              </a:rPr>
              <a:t>100</a:t>
            </a:r>
            <a:endParaRPr lang="en-US" sz="2800" dirty="0"/>
          </a:p>
        </p:txBody>
      </p:sp>
      <p:sp>
        <p:nvSpPr>
          <p:cNvPr id="13" name="Text 11"/>
          <p:cNvSpPr txBox="1"/>
          <p:nvPr/>
        </p:nvSpPr>
        <p:spPr>
          <a:xfrm>
            <a:off x="5212080" y="5577840"/>
            <a:ext cx="1874520" cy="731520"/>
          </a:xfrm>
          <a:prstGeom prst="rect">
            <a:avLst/>
          </a:prstGeom>
          <a:noFill/>
          <a:ln/>
        </p:spPr>
        <p:txBody>
          <a:bodyPr wrap="square" lIns="635" tIns="635" rIns="635" bIns="635" rtlCol="0" anchor="t"/>
          <a:lstStyle/>
          <a:p>
            <a:pPr algn="ctr" indent="0" marL="0">
              <a:buNone/>
            </a:pPr>
            <a:r>
              <a:rPr lang="en-US" sz="1200" dirty="0">
                <a:solidFill>
                  <a:schemeClr val="tx1"/>
                </a:solidFill>
              </a:rPr>
              <a:t>decision trees in the forest</a:t>
            </a:r>
            <a:endParaRPr lang="en-US" sz="1200" dirty="0"/>
          </a:p>
        </p:txBody>
      </p:sp>
      <p:sp>
        <p:nvSpPr>
          <p:cNvPr id="14" name="stat"/>
          <p:cNvSpPr/>
          <p:nvPr/>
        </p:nvSpPr>
        <p:spPr>
          <a:xfrm>
            <a:off x="7360920" y="4572000"/>
            <a:ext cx="2057400" cy="1828800"/>
          </a:xfrm>
          <a:prstGeom prst="roundRect">
            <a:avLst>
              <a:gd name="adj" fmla="val 4000"/>
            </a:avLst>
          </a:prstGeom>
          <a:solidFill>
            <a:schemeClr val="bg2"/>
          </a:solidFill>
          <a:ln w="12700">
            <a:solidFill>
              <a:schemeClr val="accent1"/>
            </a:solidFill>
            <a:prstDash val="solid"/>
          </a:ln>
        </p:spPr>
      </p:sp>
      <p:sp>
        <p:nvSpPr>
          <p:cNvPr id="15" name="Text 13"/>
          <p:cNvSpPr txBox="1"/>
          <p:nvPr/>
        </p:nvSpPr>
        <p:spPr>
          <a:xfrm>
            <a:off x="7360920" y="4800600"/>
            <a:ext cx="2057400" cy="731520"/>
          </a:xfrm>
          <a:prstGeom prst="rect">
            <a:avLst/>
          </a:prstGeom>
          <a:noFill/>
          <a:ln/>
        </p:spPr>
        <p:txBody>
          <a:bodyPr wrap="square" lIns="635" tIns="635" rIns="635" bIns="635" rtlCol="0" anchor="ctr"/>
          <a:lstStyle/>
          <a:p>
            <a:pPr algn="ctr" indent="0" marL="0">
              <a:buNone/>
            </a:pPr>
            <a:r>
              <a:rPr lang="en-US" sz="2800" b="1" dirty="0">
                <a:solidFill>
                  <a:schemeClr val="accent1"/>
                </a:solidFill>
              </a:rPr>
              <a:t>90.94%</a:t>
            </a:r>
            <a:endParaRPr lang="en-US" sz="2800" dirty="0"/>
          </a:p>
        </p:txBody>
      </p:sp>
      <p:sp>
        <p:nvSpPr>
          <p:cNvPr id="16" name="Text 14"/>
          <p:cNvSpPr txBox="1"/>
          <p:nvPr/>
        </p:nvSpPr>
        <p:spPr>
          <a:xfrm>
            <a:off x="7452360" y="5577840"/>
            <a:ext cx="1874520" cy="731520"/>
          </a:xfrm>
          <a:prstGeom prst="rect">
            <a:avLst/>
          </a:prstGeom>
          <a:noFill/>
          <a:ln/>
        </p:spPr>
        <p:txBody>
          <a:bodyPr wrap="square" lIns="635" tIns="635" rIns="635" bIns="635" rtlCol="0" anchor="t"/>
          <a:lstStyle/>
          <a:p>
            <a:pPr algn="ctr" indent="0" marL="0">
              <a:buNone/>
            </a:pPr>
            <a:r>
              <a:rPr lang="en-US" sz="1200" dirty="0">
                <a:solidFill>
                  <a:schemeClr val="tx1"/>
                </a:solidFill>
              </a:rPr>
              <a:t>test accuracy (macro F1 0.91)</a:t>
            </a:r>
            <a:endParaRPr lang="en-US" sz="1200" dirty="0"/>
          </a:p>
        </p:txBody>
      </p:sp>
      <p:sp>
        <p:nvSpPr>
          <p:cNvPr id="17" name="Text 15"/>
          <p:cNvSpPr txBox="1"/>
          <p:nvPr/>
        </p:nvSpPr>
        <p:spPr>
          <a:xfrm>
            <a:off x="640080" y="6583680"/>
            <a:ext cx="8778240" cy="365760"/>
          </a:xfrm>
          <a:prstGeom prst="rect">
            <a:avLst/>
          </a:prstGeom>
          <a:noFill/>
          <a:ln/>
        </p:spPr>
        <p:txBody>
          <a:bodyPr wrap="square" lIns="635" tIns="635" rIns="635" bIns="635" rtlCol="0" anchor="t"/>
          <a:lstStyle/>
          <a:p>
            <a:pPr algn="ctr" indent="0" marL="0">
              <a:buNone/>
            </a:pPr>
            <a:r>
              <a:rPr lang="en-US" sz="1300" b="1" dirty="0">
                <a:solidFill>
                  <a:schemeClr val="tx2"/>
                </a:solidFill>
              </a:rPr>
              <a:t>Technologies: Python · Pandas · NumPy · NLTK · Scikit-learn · Joblib · Flask · HTML/CSS</a:t>
            </a:r>
            <a:endParaRPr lang="en-US" sz="13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INTRODUCTION</a:t>
            </a:r>
            <a:endParaRPr lang="en-US" sz="1600" dirty="0"/>
          </a:p>
        </p:txBody>
      </p:sp>
      <p:sp>
        <p:nvSpPr>
          <p:cNvPr id="4" name="Text 2"/>
          <p:cNvSpPr txBox="1"/>
          <p:nvPr/>
        </p:nvSpPr>
        <p:spPr>
          <a:xfrm>
            <a:off x="731520" y="1005840"/>
            <a:ext cx="8595360" cy="4480560"/>
          </a:xfrm>
          <a:prstGeom prst="rect">
            <a:avLst/>
          </a:prstGeom>
          <a:noFill/>
          <a:ln/>
        </p:spPr>
        <p:txBody>
          <a:bodyPr wrap="square" lIns="635" tIns="635" rIns="635" bIns="635" rtlCol="0" anchor="t"/>
          <a:lstStyle/>
          <a:p>
            <a:pPr marL="342900" indent="-342900">
              <a:spcAft>
                <a:spcPts val="900"/>
              </a:spcAft>
              <a:buSzPct val="100000"/>
              <a:buChar char="•"/>
            </a:pPr>
            <a:r>
              <a:rPr lang="en-US" sz="1700" dirty="0">
                <a:solidFill>
                  <a:schemeClr val="tx1"/>
                </a:solidFill>
              </a:rPr>
              <a:t>Social media holds a huge amount of opinion-based text.</a:t>
            </a:r>
            <a:endParaRPr lang="en-US" sz="1700" dirty="0"/>
          </a:p>
          <a:p>
            <a:pPr marL="342900" indent="-342900">
              <a:spcAft>
                <a:spcPts val="900"/>
              </a:spcAft>
              <a:buSzPct val="100000"/>
              <a:buChar char="•"/>
            </a:pPr>
            <a:r>
              <a:rPr lang="en-US" sz="1700" dirty="0">
                <a:solidFill>
                  <a:schemeClr val="tx1"/>
                </a:solidFill>
              </a:rPr>
              <a:t>Sentiment analysis tells whether a text is positive, negative or neutral.</a:t>
            </a:r>
            <a:endParaRPr lang="en-US" sz="1700" dirty="0"/>
          </a:p>
          <a:p>
            <a:pPr marL="342900" indent="-342900">
              <a:spcAft>
                <a:spcPts val="900"/>
              </a:spcAft>
              <a:buSzPct val="100000"/>
              <a:buChar char="•"/>
            </a:pPr>
            <a:r>
              <a:rPr lang="en-US" sz="1700" dirty="0">
                <a:solidFill>
                  <a:schemeClr val="tx1"/>
                </a:solidFill>
              </a:rPr>
              <a:t>Reading thousands of tweets manually is slow, so automatic classification is needed.</a:t>
            </a:r>
            <a:endParaRPr lang="en-US" sz="1700" dirty="0"/>
          </a:p>
          <a:p>
            <a:pPr marL="342900" indent="-342900">
              <a:spcAft>
                <a:spcPts val="900"/>
              </a:spcAft>
              <a:buSzPct val="100000"/>
              <a:buChar char="•"/>
            </a:pPr>
            <a:r>
              <a:rPr lang="en-US" sz="1700" dirty="0">
                <a:solidFill>
                  <a:schemeClr val="tx1"/>
                </a:solidFill>
              </a:rPr>
              <a:t>Machine learning learns sentiment patterns from labelled text.</a:t>
            </a:r>
            <a:endParaRPr lang="en-US" sz="1700" dirty="0"/>
          </a:p>
          <a:p>
            <a:pPr marL="342900" indent="-342900">
              <a:spcAft>
                <a:spcPts val="900"/>
              </a:spcAft>
              <a:buSzPct val="100000"/>
              <a:buChar char="•"/>
            </a:pPr>
            <a:r>
              <a:rPr lang="en-US" sz="1700" dirty="0">
                <a:solidFill>
                  <a:schemeClr val="tx1"/>
                </a:solidFill>
              </a:rPr>
              <a:t>Text must be converted into numbers (TF-IDF) before a model can learn from it.</a:t>
            </a:r>
            <a:endParaRPr lang="en-US" sz="1700" dirty="0"/>
          </a:p>
          <a:p>
            <a:pPr marL="342900" indent="-342900">
              <a:spcAft>
                <a:spcPts val="900"/>
              </a:spcAft>
              <a:buSzPct val="100000"/>
              <a:buChar char="•"/>
            </a:pPr>
            <a:r>
              <a:rPr lang="en-US" sz="1700" dirty="0">
                <a:solidFill>
                  <a:schemeClr val="tx1"/>
                </a:solidFill>
              </a:rPr>
              <a:t>Random Forest is an ensemble of many decision trees that gives more reliable predictions.</a:t>
            </a:r>
            <a:endParaRPr lang="en-US" sz="1700" dirty="0"/>
          </a:p>
          <a:p>
            <a:pPr marL="342900" indent="-342900">
              <a:spcAft>
                <a:spcPts val="900"/>
              </a:spcAft>
              <a:buSzPct val="100000"/>
              <a:buChar char="•"/>
            </a:pPr>
            <a:r>
              <a:rPr lang="en-US" sz="1700" dirty="0">
                <a:solidFill>
                  <a:schemeClr val="tx1"/>
                </a:solidFill>
              </a:rPr>
              <a:t>A hybrid approach adds rule-based analysis on top of the ML prediction.</a:t>
            </a:r>
            <a:endParaRPr lang="en-US" sz="1700" dirty="0"/>
          </a:p>
          <a:p>
            <a:pPr marL="342900" indent="-342900">
              <a:spcAft>
                <a:spcPts val="900"/>
              </a:spcAft>
              <a:buSzPct val="100000"/>
              <a:buChar char="•"/>
            </a:pPr>
            <a:r>
              <a:rPr lang="en-US" sz="1700" dirty="0">
                <a:solidFill>
                  <a:schemeClr val="tx1"/>
                </a:solidFill>
              </a:rPr>
              <a:t>Our system combines preprocessing, TF-IDF, Random Forest and a simple Flask web interface.</a:t>
            </a:r>
            <a:endParaRPr lang="en-US" sz="1700" dirty="0"/>
          </a:p>
        </p:txBody>
      </p:sp>
      <p:sp>
        <p:nvSpPr>
          <p:cNvPr id="5" name="why ensemble"/>
          <p:cNvSpPr/>
          <p:nvPr/>
        </p:nvSpPr>
        <p:spPr>
          <a:xfrm>
            <a:off x="731520" y="5623560"/>
            <a:ext cx="8595360" cy="1325880"/>
          </a:xfrm>
          <a:prstGeom prst="roundRect">
            <a:avLst>
              <a:gd name="adj" fmla="val 5517"/>
            </a:avLst>
          </a:prstGeom>
          <a:solidFill>
            <a:srgbClr val="FFF3E8"/>
          </a:solidFill>
          <a:ln w="19050">
            <a:solidFill>
              <a:schemeClr val="accent1"/>
            </a:solidFill>
            <a:prstDash val="solid"/>
          </a:ln>
        </p:spPr>
      </p:sp>
      <p:sp>
        <p:nvSpPr>
          <p:cNvPr id="6" name="Text 4"/>
          <p:cNvSpPr txBox="1"/>
          <p:nvPr/>
        </p:nvSpPr>
        <p:spPr>
          <a:xfrm>
            <a:off x="914400" y="5669280"/>
            <a:ext cx="5486400" cy="320040"/>
          </a:xfrm>
          <a:prstGeom prst="rect">
            <a:avLst/>
          </a:prstGeom>
          <a:noFill/>
          <a:ln/>
        </p:spPr>
        <p:txBody>
          <a:bodyPr wrap="square" lIns="635" tIns="635" rIns="635" bIns="635" rtlCol="0" anchor="t"/>
          <a:lstStyle/>
          <a:p>
            <a:pPr indent="0" marL="0">
              <a:buNone/>
            </a:pPr>
            <a:r>
              <a:rPr lang="en-US" sz="1400" b="1" dirty="0">
                <a:solidFill>
                  <a:schemeClr val="accent1"/>
                </a:solidFill>
              </a:rPr>
              <a:t>WHY ENSEMBLE LEARNING?</a:t>
            </a:r>
            <a:endParaRPr lang="en-US" sz="1400" dirty="0"/>
          </a:p>
        </p:txBody>
      </p:sp>
      <p:sp>
        <p:nvSpPr>
          <p:cNvPr id="7" name="Text 5"/>
          <p:cNvSpPr txBox="1"/>
          <p:nvPr/>
        </p:nvSpPr>
        <p:spPr>
          <a:xfrm>
            <a:off x="914400" y="5989320"/>
            <a:ext cx="8229600" cy="914400"/>
          </a:xfrm>
          <a:prstGeom prst="rect">
            <a:avLst/>
          </a:prstGeom>
          <a:noFill/>
          <a:ln/>
        </p:spPr>
        <p:txBody>
          <a:bodyPr wrap="square" lIns="635" tIns="635" rIns="635" bIns="635" rtlCol="0" anchor="t"/>
          <a:lstStyle/>
          <a:p>
            <a:pPr indent="0" marL="0">
              <a:buNone/>
            </a:pPr>
            <a:r>
              <a:rPr lang="en-US" sz="1400" dirty="0">
                <a:solidFill>
                  <a:schemeClr val="tx1"/>
                </a:solidFill>
              </a:rPr>
              <a:t>A single tree can overfit noisy text. A Random Forest trains many trees on different samples and features; their errors are partly uncorrelated, so combining them by majority vote reduces variance and improves generalisation.</a:t>
            </a:r>
            <a:endParaRPr lang="en-US" sz="14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PROBLEM STATEMENT</a:t>
            </a:r>
            <a:endParaRPr lang="en-US" sz="1600" dirty="0"/>
          </a:p>
        </p:txBody>
      </p:sp>
      <p:sp>
        <p:nvSpPr>
          <p:cNvPr id="4" name="Text 2"/>
          <p:cNvSpPr txBox="1"/>
          <p:nvPr/>
        </p:nvSpPr>
        <p:spPr>
          <a:xfrm>
            <a:off x="640080" y="1005840"/>
            <a:ext cx="8778240" cy="14630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Social media creates huge amounts of unstructured text; reading every tweet manually is slow and difficult.</a:t>
            </a:r>
            <a:endParaRPr lang="en-US" sz="1600" dirty="0"/>
          </a:p>
          <a:p>
            <a:pPr marL="342900" indent="-342900">
              <a:spcAft>
                <a:spcPts val="800"/>
              </a:spcAft>
              <a:buSzPct val="100000"/>
              <a:buChar char="•"/>
            </a:pPr>
            <a:r>
              <a:rPr lang="en-US" sz="1600" dirty="0">
                <a:solidFill>
                  <a:schemeClr val="tx1"/>
                </a:solidFill>
              </a:rPr>
              <a:t>Existing systems mostly use lexicon-based methods or a single classifier such as Naive Bayes or Logistic Regression.</a:t>
            </a:r>
            <a:endParaRPr lang="en-US" sz="1600" dirty="0"/>
          </a:p>
        </p:txBody>
      </p:sp>
      <p:sp>
        <p:nvSpPr>
          <p:cNvPr id="5" name="Text 3"/>
          <p:cNvSpPr txBox="1"/>
          <p:nvPr/>
        </p:nvSpPr>
        <p:spPr>
          <a:xfrm>
            <a:off x="640080" y="2606040"/>
            <a:ext cx="5486400" cy="320040"/>
          </a:xfrm>
          <a:prstGeom prst="rect">
            <a:avLst/>
          </a:prstGeom>
          <a:noFill/>
          <a:ln/>
        </p:spPr>
        <p:txBody>
          <a:bodyPr wrap="square" lIns="635" tIns="635" rIns="635" bIns="635" rtlCol="0" anchor="t"/>
          <a:lstStyle/>
          <a:p>
            <a:pPr indent="0" marL="0">
              <a:buNone/>
            </a:pPr>
            <a:r>
              <a:rPr lang="en-US" sz="1400" b="1" dirty="0">
                <a:solidFill>
                  <a:schemeClr val="accent1"/>
                </a:solidFill>
              </a:rPr>
              <a:t>Limitations of existing systems</a:t>
            </a:r>
            <a:endParaRPr lang="en-US" sz="1400" dirty="0"/>
          </a:p>
        </p:txBody>
      </p:sp>
      <p:sp>
        <p:nvSpPr>
          <p:cNvPr id="6" name="card"/>
          <p:cNvSpPr/>
          <p:nvPr/>
        </p:nvSpPr>
        <p:spPr>
          <a:xfrm>
            <a:off x="640080" y="3017520"/>
            <a:ext cx="4297680" cy="914400"/>
          </a:xfrm>
          <a:prstGeom prst="roundRect">
            <a:avLst>
              <a:gd name="adj" fmla="val 8000"/>
            </a:avLst>
          </a:prstGeom>
          <a:solidFill>
            <a:schemeClr val="bg2"/>
          </a:solidFill>
          <a:ln w="12700">
            <a:solidFill>
              <a:schemeClr val="accent2"/>
            </a:solidFill>
            <a:prstDash val="solid"/>
          </a:ln>
        </p:spPr>
      </p:sp>
      <p:sp>
        <p:nvSpPr>
          <p:cNvPr id="7" name="badge"/>
          <p:cNvSpPr/>
          <p:nvPr/>
        </p:nvSpPr>
        <p:spPr>
          <a:xfrm>
            <a:off x="777240" y="3319272"/>
            <a:ext cx="310896" cy="310896"/>
          </a:xfrm>
          <a:prstGeom prst="ellipse">
            <a:avLst/>
          </a:prstGeom>
          <a:solidFill>
            <a:schemeClr val="accent2"/>
          </a:solidFill>
          <a:ln w="12700">
            <a:solidFill>
              <a:schemeClr val="accent2"/>
            </a:solidFill>
            <a:prstDash val="solid"/>
          </a:ln>
        </p:spPr>
      </p:sp>
      <p:sp>
        <p:nvSpPr>
          <p:cNvPr id="8" name="Text 6"/>
          <p:cNvSpPr txBox="1"/>
          <p:nvPr/>
        </p:nvSpPr>
        <p:spPr>
          <a:xfrm>
            <a:off x="777240" y="331927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Text 7"/>
          <p:cNvSpPr txBox="1"/>
          <p:nvPr/>
        </p:nvSpPr>
        <p:spPr>
          <a:xfrm>
            <a:off x="1188720" y="3108960"/>
            <a:ext cx="3657600" cy="731520"/>
          </a:xfrm>
          <a:prstGeom prst="rect">
            <a:avLst/>
          </a:prstGeom>
          <a:noFill/>
          <a:ln/>
        </p:spPr>
        <p:txBody>
          <a:bodyPr wrap="square" lIns="635" tIns="635" rIns="635" bIns="635" rtlCol="0" anchor="ctr"/>
          <a:lstStyle/>
          <a:p>
            <a:pPr indent="0" marL="0">
              <a:buNone/>
            </a:pPr>
            <a:r>
              <a:rPr lang="en-US" sz="1400" dirty="0">
                <a:solidFill>
                  <a:schemeClr val="tx1"/>
                </a:solidFill>
              </a:rPr>
              <a:t>Difficult to detect sentiment in sarcastic or ambiguous tweets.</a:t>
            </a:r>
            <a:endParaRPr lang="en-US" sz="1400" dirty="0"/>
          </a:p>
        </p:txBody>
      </p:sp>
      <p:sp>
        <p:nvSpPr>
          <p:cNvPr id="10" name="card"/>
          <p:cNvSpPr/>
          <p:nvPr/>
        </p:nvSpPr>
        <p:spPr>
          <a:xfrm>
            <a:off x="5074920" y="3017520"/>
            <a:ext cx="4297680" cy="914400"/>
          </a:xfrm>
          <a:prstGeom prst="roundRect">
            <a:avLst>
              <a:gd name="adj" fmla="val 8000"/>
            </a:avLst>
          </a:prstGeom>
          <a:solidFill>
            <a:schemeClr val="bg2"/>
          </a:solidFill>
          <a:ln w="12700">
            <a:solidFill>
              <a:schemeClr val="accent2"/>
            </a:solidFill>
            <a:prstDash val="solid"/>
          </a:ln>
        </p:spPr>
      </p:sp>
      <p:sp>
        <p:nvSpPr>
          <p:cNvPr id="11" name="badge"/>
          <p:cNvSpPr/>
          <p:nvPr/>
        </p:nvSpPr>
        <p:spPr>
          <a:xfrm>
            <a:off x="5212080" y="3319272"/>
            <a:ext cx="310896" cy="310896"/>
          </a:xfrm>
          <a:prstGeom prst="ellipse">
            <a:avLst/>
          </a:prstGeom>
          <a:solidFill>
            <a:schemeClr val="accent2"/>
          </a:solidFill>
          <a:ln w="12700">
            <a:solidFill>
              <a:schemeClr val="accent2"/>
            </a:solidFill>
            <a:prstDash val="solid"/>
          </a:ln>
        </p:spPr>
      </p:sp>
      <p:sp>
        <p:nvSpPr>
          <p:cNvPr id="12" name="Text 10"/>
          <p:cNvSpPr txBox="1"/>
          <p:nvPr/>
        </p:nvSpPr>
        <p:spPr>
          <a:xfrm>
            <a:off x="5212080" y="331927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Text 11"/>
          <p:cNvSpPr txBox="1"/>
          <p:nvPr/>
        </p:nvSpPr>
        <p:spPr>
          <a:xfrm>
            <a:off x="5623560" y="3108960"/>
            <a:ext cx="3657600" cy="731520"/>
          </a:xfrm>
          <a:prstGeom prst="rect">
            <a:avLst/>
          </a:prstGeom>
          <a:noFill/>
          <a:ln/>
        </p:spPr>
        <p:txBody>
          <a:bodyPr wrap="square" lIns="635" tIns="635" rIns="635" bIns="635" rtlCol="0" anchor="ctr"/>
          <a:lstStyle/>
          <a:p>
            <a:pPr indent="0" marL="0">
              <a:buNone/>
            </a:pPr>
            <a:r>
              <a:rPr lang="en-US" sz="1400" dirty="0">
                <a:solidFill>
                  <a:schemeClr val="tx1"/>
                </a:solidFill>
              </a:rPr>
              <a:t>Lexicons and rules need continuous updating.</a:t>
            </a:r>
            <a:endParaRPr lang="en-US" sz="1400" dirty="0"/>
          </a:p>
        </p:txBody>
      </p:sp>
      <p:sp>
        <p:nvSpPr>
          <p:cNvPr id="14" name="card"/>
          <p:cNvSpPr/>
          <p:nvPr/>
        </p:nvSpPr>
        <p:spPr>
          <a:xfrm>
            <a:off x="640080" y="4114800"/>
            <a:ext cx="4297680" cy="914400"/>
          </a:xfrm>
          <a:prstGeom prst="roundRect">
            <a:avLst>
              <a:gd name="adj" fmla="val 8000"/>
            </a:avLst>
          </a:prstGeom>
          <a:solidFill>
            <a:schemeClr val="bg2"/>
          </a:solidFill>
          <a:ln w="12700">
            <a:solidFill>
              <a:schemeClr val="accent2"/>
            </a:solidFill>
            <a:prstDash val="solid"/>
          </a:ln>
        </p:spPr>
      </p:sp>
      <p:sp>
        <p:nvSpPr>
          <p:cNvPr id="15" name="badge"/>
          <p:cNvSpPr/>
          <p:nvPr/>
        </p:nvSpPr>
        <p:spPr>
          <a:xfrm>
            <a:off x="777240" y="4416552"/>
            <a:ext cx="310896" cy="310896"/>
          </a:xfrm>
          <a:prstGeom prst="ellipse">
            <a:avLst/>
          </a:prstGeom>
          <a:solidFill>
            <a:schemeClr val="accent2"/>
          </a:solidFill>
          <a:ln w="12700">
            <a:solidFill>
              <a:schemeClr val="accent2"/>
            </a:solidFill>
            <a:prstDash val="solid"/>
          </a:ln>
        </p:spPr>
      </p:sp>
      <p:sp>
        <p:nvSpPr>
          <p:cNvPr id="16" name="Text 14"/>
          <p:cNvSpPr txBox="1"/>
          <p:nvPr/>
        </p:nvSpPr>
        <p:spPr>
          <a:xfrm>
            <a:off x="777240" y="44165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Text 15"/>
          <p:cNvSpPr txBox="1"/>
          <p:nvPr/>
        </p:nvSpPr>
        <p:spPr>
          <a:xfrm>
            <a:off x="1188720" y="4206240"/>
            <a:ext cx="3657600" cy="731520"/>
          </a:xfrm>
          <a:prstGeom prst="rect">
            <a:avLst/>
          </a:prstGeom>
          <a:noFill/>
          <a:ln/>
        </p:spPr>
        <p:txBody>
          <a:bodyPr wrap="square" lIns="635" tIns="635" rIns="635" bIns="635" rtlCol="0" anchor="ctr"/>
          <a:lstStyle/>
          <a:p>
            <a:pPr indent="0" marL="0">
              <a:buNone/>
            </a:pPr>
            <a:r>
              <a:rPr lang="en-US" sz="1400" dirty="0">
                <a:solidFill>
                  <a:schemeClr val="tx1"/>
                </a:solidFill>
              </a:rPr>
              <a:t>Slang, abbreviations and misspellings reduce accuracy.</a:t>
            </a:r>
            <a:endParaRPr lang="en-US" sz="1400" dirty="0"/>
          </a:p>
        </p:txBody>
      </p:sp>
      <p:sp>
        <p:nvSpPr>
          <p:cNvPr id="18" name="card"/>
          <p:cNvSpPr/>
          <p:nvPr/>
        </p:nvSpPr>
        <p:spPr>
          <a:xfrm>
            <a:off x="5074920" y="4114800"/>
            <a:ext cx="4297680" cy="914400"/>
          </a:xfrm>
          <a:prstGeom prst="roundRect">
            <a:avLst>
              <a:gd name="adj" fmla="val 8000"/>
            </a:avLst>
          </a:prstGeom>
          <a:solidFill>
            <a:schemeClr val="bg2"/>
          </a:solidFill>
          <a:ln w="12700">
            <a:solidFill>
              <a:schemeClr val="accent2"/>
            </a:solidFill>
            <a:prstDash val="solid"/>
          </a:ln>
        </p:spPr>
      </p:sp>
      <p:sp>
        <p:nvSpPr>
          <p:cNvPr id="19" name="badge"/>
          <p:cNvSpPr/>
          <p:nvPr/>
        </p:nvSpPr>
        <p:spPr>
          <a:xfrm>
            <a:off x="5212080" y="4416552"/>
            <a:ext cx="310896" cy="310896"/>
          </a:xfrm>
          <a:prstGeom prst="ellipse">
            <a:avLst/>
          </a:prstGeom>
          <a:solidFill>
            <a:schemeClr val="accent2"/>
          </a:solidFill>
          <a:ln w="12700">
            <a:solidFill>
              <a:schemeClr val="accent2"/>
            </a:solidFill>
            <a:prstDash val="solid"/>
          </a:ln>
        </p:spPr>
      </p:sp>
      <p:sp>
        <p:nvSpPr>
          <p:cNvPr id="20" name="Text 18"/>
          <p:cNvSpPr txBox="1"/>
          <p:nvPr/>
        </p:nvSpPr>
        <p:spPr>
          <a:xfrm>
            <a:off x="5212080" y="441655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1" name="Text 19"/>
          <p:cNvSpPr txBox="1"/>
          <p:nvPr/>
        </p:nvSpPr>
        <p:spPr>
          <a:xfrm>
            <a:off x="5623560" y="4206240"/>
            <a:ext cx="3657600" cy="731520"/>
          </a:xfrm>
          <a:prstGeom prst="rect">
            <a:avLst/>
          </a:prstGeom>
          <a:noFill/>
          <a:ln/>
        </p:spPr>
        <p:txBody>
          <a:bodyPr wrap="square" lIns="635" tIns="635" rIns="635" bIns="635" rtlCol="0" anchor="ctr"/>
          <a:lstStyle/>
          <a:p>
            <a:pPr indent="0" marL="0">
              <a:buNone/>
            </a:pPr>
            <a:r>
              <a:rPr lang="en-US" sz="1400" dirty="0">
                <a:solidFill>
                  <a:schemeClr val="tx1"/>
                </a:solidFill>
              </a:rPr>
              <a:t>A single model can overfit or underfit on noisy social media text.</a:t>
            </a:r>
            <a:endParaRPr lang="en-US" sz="1400" dirty="0"/>
          </a:p>
        </p:txBody>
      </p:sp>
      <p:sp>
        <p:nvSpPr>
          <p:cNvPr id="22" name="problem"/>
          <p:cNvSpPr/>
          <p:nvPr/>
        </p:nvSpPr>
        <p:spPr>
          <a:xfrm>
            <a:off x="640080" y="5440680"/>
            <a:ext cx="8778240" cy="1508760"/>
          </a:xfrm>
          <a:prstGeom prst="roundRect">
            <a:avLst>
              <a:gd name="adj" fmla="val 4848"/>
            </a:avLst>
          </a:prstGeom>
          <a:solidFill>
            <a:srgbClr val="FFF3E8"/>
          </a:solidFill>
          <a:ln w="25400">
            <a:solidFill>
              <a:schemeClr val="accent1"/>
            </a:solidFill>
            <a:prstDash val="solid"/>
          </a:ln>
        </p:spPr>
      </p:sp>
      <p:sp>
        <p:nvSpPr>
          <p:cNvPr id="23" name="Text 21"/>
          <p:cNvSpPr txBox="1"/>
          <p:nvPr/>
        </p:nvSpPr>
        <p:spPr>
          <a:xfrm>
            <a:off x="822960" y="5532120"/>
            <a:ext cx="2743200" cy="320040"/>
          </a:xfrm>
          <a:prstGeom prst="rect">
            <a:avLst/>
          </a:prstGeom>
          <a:noFill/>
          <a:ln/>
        </p:spPr>
        <p:txBody>
          <a:bodyPr wrap="square" lIns="635" tIns="635" rIns="635" bIns="635" rtlCol="0" anchor="t"/>
          <a:lstStyle/>
          <a:p>
            <a:pPr indent="0" marL="0">
              <a:buNone/>
            </a:pPr>
            <a:r>
              <a:rPr lang="en-US" sz="1400" b="1" dirty="0">
                <a:solidFill>
                  <a:schemeClr val="accent1"/>
                </a:solidFill>
              </a:rPr>
              <a:t>PROBLEM</a:t>
            </a:r>
            <a:endParaRPr lang="en-US" sz="1400" dirty="0"/>
          </a:p>
        </p:txBody>
      </p:sp>
      <p:sp>
        <p:nvSpPr>
          <p:cNvPr id="24" name="Text 22"/>
          <p:cNvSpPr txBox="1"/>
          <p:nvPr/>
        </p:nvSpPr>
        <p:spPr>
          <a:xfrm>
            <a:off x="822960" y="5806440"/>
            <a:ext cx="8412480" cy="731520"/>
          </a:xfrm>
          <a:prstGeom prst="rect">
            <a:avLst/>
          </a:prstGeom>
          <a:noFill/>
          <a:ln/>
        </p:spPr>
        <p:txBody>
          <a:bodyPr wrap="square" lIns="635" tIns="635" rIns="635" bIns="635" rtlCol="0" anchor="t"/>
          <a:lstStyle/>
          <a:p>
            <a:pPr indent="0" marL="0">
              <a:buNone/>
            </a:pPr>
            <a:r>
              <a:rPr lang="en-US" sz="1500" b="1" dirty="0">
                <a:solidFill>
                  <a:schemeClr val="tx2"/>
                </a:solidFill>
              </a:rPr>
              <a:t>How can we automatically classify tweet text into Positive, Negative and Neutral sentiment using an ensemble machine learning approach that handles informal language, slang and spelling variations?</a:t>
            </a:r>
            <a:endParaRPr lang="en-US" sz="1500" dirty="0"/>
          </a:p>
        </p:txBody>
      </p:sp>
      <p:sp>
        <p:nvSpPr>
          <p:cNvPr id="25" name="Text 23"/>
          <p:cNvSpPr txBox="1"/>
          <p:nvPr/>
        </p:nvSpPr>
        <p:spPr>
          <a:xfrm>
            <a:off x="822960" y="6492240"/>
            <a:ext cx="8412480" cy="365760"/>
          </a:xfrm>
          <a:prstGeom prst="rect">
            <a:avLst/>
          </a:prstGeom>
          <a:noFill/>
          <a:ln/>
        </p:spPr>
        <p:txBody>
          <a:bodyPr wrap="square" lIns="635" tIns="635" rIns="635" bIns="635" rtlCol="0" anchor="t"/>
          <a:lstStyle/>
          <a:p>
            <a:pPr indent="0" marL="0">
              <a:buNone/>
            </a:pPr>
            <a:r>
              <a:rPr lang="en-US" sz="1300" i="1" dirty="0">
                <a:solidFill>
                  <a:schemeClr val="tx1"/>
                </a:solidFill>
              </a:rPr>
              <a:t>Goal: a trained model and a web page that return Positive, Negative or Neutral for any tweet instantly.</a:t>
            </a:r>
            <a:endParaRPr lang="en-US" sz="13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PROPOSED SOLUTION &amp; OBJECTIVES</a:t>
            </a:r>
            <a:endParaRPr lang="en-US" sz="1600" dirty="0"/>
          </a:p>
        </p:txBody>
      </p:sp>
      <p:sp>
        <p:nvSpPr>
          <p:cNvPr id="4" name="Text 2"/>
          <p:cNvSpPr txBox="1"/>
          <p:nvPr/>
        </p:nvSpPr>
        <p:spPr>
          <a:xfrm>
            <a:off x="640080" y="960120"/>
            <a:ext cx="5486400" cy="320040"/>
          </a:xfrm>
          <a:prstGeom prst="rect">
            <a:avLst/>
          </a:prstGeom>
          <a:noFill/>
          <a:ln/>
        </p:spPr>
        <p:txBody>
          <a:bodyPr wrap="square" lIns="635" tIns="635" rIns="635" bIns="635" rtlCol="0" anchor="t"/>
          <a:lstStyle/>
          <a:p>
            <a:pPr indent="0" marL="0">
              <a:buNone/>
            </a:pPr>
            <a:r>
              <a:rPr lang="en-US" sz="1400" b="1" dirty="0">
                <a:solidFill>
                  <a:schemeClr val="accent1"/>
                </a:solidFill>
              </a:rPr>
              <a:t>PROPOSED SOLUTION</a:t>
            </a:r>
            <a:endParaRPr lang="en-US" sz="1400" dirty="0"/>
          </a:p>
        </p:txBody>
      </p:sp>
      <p:sp>
        <p:nvSpPr>
          <p:cNvPr id="5" name="card"/>
          <p:cNvSpPr/>
          <p:nvPr/>
        </p:nvSpPr>
        <p:spPr>
          <a:xfrm>
            <a:off x="640080" y="1325880"/>
            <a:ext cx="8778240" cy="1463040"/>
          </a:xfrm>
          <a:prstGeom prst="roundRect">
            <a:avLst>
              <a:gd name="adj" fmla="val 5000"/>
            </a:avLst>
          </a:prstGeom>
          <a:solidFill>
            <a:schemeClr val="bg2"/>
          </a:solidFill>
          <a:ln w="12700">
            <a:solidFill>
              <a:schemeClr val="accent2"/>
            </a:solidFill>
            <a:prstDash val="solid"/>
          </a:ln>
        </p:spPr>
      </p:sp>
      <p:sp>
        <p:nvSpPr>
          <p:cNvPr id="6" name="Text 4"/>
          <p:cNvSpPr txBox="1"/>
          <p:nvPr/>
        </p:nvSpPr>
        <p:spPr>
          <a:xfrm>
            <a:off x="822960" y="1371600"/>
            <a:ext cx="8412480" cy="1371600"/>
          </a:xfrm>
          <a:prstGeom prst="rect">
            <a:avLst/>
          </a:prstGeom>
          <a:noFill/>
          <a:ln/>
        </p:spPr>
        <p:txBody>
          <a:bodyPr wrap="square" lIns="635" tIns="635" rIns="635" bIns="635" rtlCol="0" anchor="ctr"/>
          <a:lstStyle/>
          <a:p>
            <a:pPr indent="0" marL="0">
              <a:buNone/>
            </a:pPr>
            <a:r>
              <a:rPr lang="en-US" sz="1400" dirty="0">
                <a:solidFill>
                  <a:schemeClr val="tx1"/>
                </a:solidFill>
              </a:rPr>
              <a:t>An ensemble-learning sentiment analysis system that learns patterns from labelled tweets: preprocessing, Word and Character TF-IDF feature extraction, Random Forest training, hybrid rule-based + ML prediction, and a Flask web interface to show the result. Word features capture vocabulary; character features handle slang and spelling variations; the forest votes; rules refine the final label.</a:t>
            </a:r>
            <a:endParaRPr lang="en-US" sz="1400" dirty="0"/>
          </a:p>
        </p:txBody>
      </p:sp>
      <p:sp>
        <p:nvSpPr>
          <p:cNvPr id="7" name="Text 5"/>
          <p:cNvSpPr txBox="1"/>
          <p:nvPr/>
        </p:nvSpPr>
        <p:spPr>
          <a:xfrm>
            <a:off x="640080" y="3017520"/>
            <a:ext cx="5486400" cy="320040"/>
          </a:xfrm>
          <a:prstGeom prst="rect">
            <a:avLst/>
          </a:prstGeom>
          <a:noFill/>
          <a:ln/>
        </p:spPr>
        <p:txBody>
          <a:bodyPr wrap="square" lIns="635" tIns="635" rIns="635" bIns="635" rtlCol="0" anchor="t"/>
          <a:lstStyle/>
          <a:p>
            <a:pPr indent="0" marL="0">
              <a:buNone/>
            </a:pPr>
            <a:r>
              <a:rPr lang="en-US" sz="1400" b="1" dirty="0">
                <a:solidFill>
                  <a:schemeClr val="accent1"/>
                </a:solidFill>
              </a:rPr>
              <a:t>OBJECTIVES</a:t>
            </a:r>
            <a:endParaRPr lang="en-US" sz="1400" dirty="0"/>
          </a:p>
        </p:txBody>
      </p:sp>
      <p:sp>
        <p:nvSpPr>
          <p:cNvPr id="8" name="card"/>
          <p:cNvSpPr/>
          <p:nvPr/>
        </p:nvSpPr>
        <p:spPr>
          <a:xfrm>
            <a:off x="640080" y="3429000"/>
            <a:ext cx="4297680" cy="777240"/>
          </a:xfrm>
          <a:prstGeom prst="roundRect">
            <a:avLst>
              <a:gd name="adj" fmla="val 9412"/>
            </a:avLst>
          </a:prstGeom>
          <a:solidFill>
            <a:schemeClr val="bg2"/>
          </a:solidFill>
          <a:ln w="12700">
            <a:solidFill>
              <a:schemeClr val="accent2"/>
            </a:solidFill>
            <a:prstDash val="solid"/>
          </a:ln>
        </p:spPr>
      </p:sp>
      <p:sp>
        <p:nvSpPr>
          <p:cNvPr id="9" name="badge"/>
          <p:cNvSpPr/>
          <p:nvPr/>
        </p:nvSpPr>
        <p:spPr>
          <a:xfrm>
            <a:off x="777240" y="3657600"/>
            <a:ext cx="310896" cy="310896"/>
          </a:xfrm>
          <a:prstGeom prst="ellipse">
            <a:avLst/>
          </a:prstGeom>
          <a:solidFill>
            <a:schemeClr val="accent2"/>
          </a:solidFill>
          <a:ln w="12700">
            <a:solidFill>
              <a:schemeClr val="accent2"/>
            </a:solidFill>
            <a:prstDash val="solid"/>
          </a:ln>
        </p:spPr>
      </p:sp>
      <p:sp>
        <p:nvSpPr>
          <p:cNvPr id="10" name="Text 8"/>
          <p:cNvSpPr txBox="1"/>
          <p:nvPr/>
        </p:nvSpPr>
        <p:spPr>
          <a:xfrm>
            <a:off x="777240" y="36576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Text 9"/>
          <p:cNvSpPr txBox="1"/>
          <p:nvPr/>
        </p:nvSpPr>
        <p:spPr>
          <a:xfrm>
            <a:off x="1188720" y="3474720"/>
            <a:ext cx="3657600" cy="685800"/>
          </a:xfrm>
          <a:prstGeom prst="rect">
            <a:avLst/>
          </a:prstGeom>
          <a:noFill/>
          <a:ln/>
        </p:spPr>
        <p:txBody>
          <a:bodyPr wrap="square" lIns="635" tIns="635" rIns="635" bIns="635" rtlCol="0" anchor="ctr"/>
          <a:lstStyle/>
          <a:p>
            <a:pPr indent="0" marL="0">
              <a:buNone/>
            </a:pPr>
            <a:r>
              <a:rPr lang="en-US" sz="1400" dirty="0">
                <a:solidFill>
                  <a:schemeClr val="tx1"/>
                </a:solidFill>
              </a:rPr>
              <a:t>Collect and prepare the Twitter sentiment dataset.</a:t>
            </a:r>
            <a:endParaRPr lang="en-US" sz="1400" dirty="0"/>
          </a:p>
        </p:txBody>
      </p:sp>
      <p:sp>
        <p:nvSpPr>
          <p:cNvPr id="12" name="card"/>
          <p:cNvSpPr/>
          <p:nvPr/>
        </p:nvSpPr>
        <p:spPr>
          <a:xfrm>
            <a:off x="5074920" y="3429000"/>
            <a:ext cx="4297680" cy="777240"/>
          </a:xfrm>
          <a:prstGeom prst="roundRect">
            <a:avLst>
              <a:gd name="adj" fmla="val 9412"/>
            </a:avLst>
          </a:prstGeom>
          <a:solidFill>
            <a:schemeClr val="bg2"/>
          </a:solidFill>
          <a:ln w="12700">
            <a:solidFill>
              <a:schemeClr val="accent2"/>
            </a:solidFill>
            <a:prstDash val="solid"/>
          </a:ln>
        </p:spPr>
      </p:sp>
      <p:sp>
        <p:nvSpPr>
          <p:cNvPr id="13" name="badge"/>
          <p:cNvSpPr/>
          <p:nvPr/>
        </p:nvSpPr>
        <p:spPr>
          <a:xfrm>
            <a:off x="5212080" y="3657600"/>
            <a:ext cx="310896" cy="310896"/>
          </a:xfrm>
          <a:prstGeom prst="ellipse">
            <a:avLst/>
          </a:prstGeom>
          <a:solidFill>
            <a:schemeClr val="accent2"/>
          </a:solidFill>
          <a:ln w="12700">
            <a:solidFill>
              <a:schemeClr val="accent2"/>
            </a:solidFill>
            <a:prstDash val="solid"/>
          </a:ln>
        </p:spPr>
      </p:sp>
      <p:sp>
        <p:nvSpPr>
          <p:cNvPr id="14" name="Text 12"/>
          <p:cNvSpPr txBox="1"/>
          <p:nvPr/>
        </p:nvSpPr>
        <p:spPr>
          <a:xfrm>
            <a:off x="5212080" y="36576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5" name="Text 13"/>
          <p:cNvSpPr txBox="1"/>
          <p:nvPr/>
        </p:nvSpPr>
        <p:spPr>
          <a:xfrm>
            <a:off x="5623560" y="3474720"/>
            <a:ext cx="3657600" cy="685800"/>
          </a:xfrm>
          <a:prstGeom prst="rect">
            <a:avLst/>
          </a:prstGeom>
          <a:noFill/>
          <a:ln/>
        </p:spPr>
        <p:txBody>
          <a:bodyPr wrap="square" lIns="635" tIns="635" rIns="635" bIns="635" rtlCol="0" anchor="ctr"/>
          <a:lstStyle/>
          <a:p>
            <a:pPr indent="0" marL="0">
              <a:buNone/>
            </a:pPr>
            <a:r>
              <a:rPr lang="en-US" sz="1400" dirty="0">
                <a:solidFill>
                  <a:schemeClr val="tx1"/>
                </a:solidFill>
              </a:rPr>
              <a:t>Clean and preprocess the tweet text.</a:t>
            </a:r>
            <a:endParaRPr lang="en-US" sz="1400" dirty="0"/>
          </a:p>
        </p:txBody>
      </p:sp>
      <p:sp>
        <p:nvSpPr>
          <p:cNvPr id="16" name="card"/>
          <p:cNvSpPr/>
          <p:nvPr/>
        </p:nvSpPr>
        <p:spPr>
          <a:xfrm>
            <a:off x="640080" y="4343400"/>
            <a:ext cx="4297680" cy="777240"/>
          </a:xfrm>
          <a:prstGeom prst="roundRect">
            <a:avLst>
              <a:gd name="adj" fmla="val 9412"/>
            </a:avLst>
          </a:prstGeom>
          <a:solidFill>
            <a:schemeClr val="bg2"/>
          </a:solidFill>
          <a:ln w="12700">
            <a:solidFill>
              <a:schemeClr val="accent2"/>
            </a:solidFill>
            <a:prstDash val="solid"/>
          </a:ln>
        </p:spPr>
      </p:sp>
      <p:sp>
        <p:nvSpPr>
          <p:cNvPr id="17" name="badge"/>
          <p:cNvSpPr/>
          <p:nvPr/>
        </p:nvSpPr>
        <p:spPr>
          <a:xfrm>
            <a:off x="777240" y="4572000"/>
            <a:ext cx="310896" cy="310896"/>
          </a:xfrm>
          <a:prstGeom prst="ellipse">
            <a:avLst/>
          </a:prstGeom>
          <a:solidFill>
            <a:schemeClr val="accent2"/>
          </a:solidFill>
          <a:ln w="12700">
            <a:solidFill>
              <a:schemeClr val="accent2"/>
            </a:solidFill>
            <a:prstDash val="solid"/>
          </a:ln>
        </p:spPr>
      </p:sp>
      <p:sp>
        <p:nvSpPr>
          <p:cNvPr id="18" name="Text 16"/>
          <p:cNvSpPr txBox="1"/>
          <p:nvPr/>
        </p:nvSpPr>
        <p:spPr>
          <a:xfrm>
            <a:off x="777240" y="45720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9" name="Text 17"/>
          <p:cNvSpPr txBox="1"/>
          <p:nvPr/>
        </p:nvSpPr>
        <p:spPr>
          <a:xfrm>
            <a:off x="1188720" y="4389120"/>
            <a:ext cx="3657600" cy="685800"/>
          </a:xfrm>
          <a:prstGeom prst="rect">
            <a:avLst/>
          </a:prstGeom>
          <a:noFill/>
          <a:ln/>
        </p:spPr>
        <p:txBody>
          <a:bodyPr wrap="square" lIns="635" tIns="635" rIns="635" bIns="635" rtlCol="0" anchor="ctr"/>
          <a:lstStyle/>
          <a:p>
            <a:pPr indent="0" marL="0">
              <a:buNone/>
            </a:pPr>
            <a:r>
              <a:rPr lang="en-US" sz="1400" dirty="0">
                <a:solidFill>
                  <a:schemeClr val="tx1"/>
                </a:solidFill>
              </a:rPr>
              <a:t>Convert text to numbers using TF-IDF.</a:t>
            </a:r>
            <a:endParaRPr lang="en-US" sz="1400" dirty="0"/>
          </a:p>
        </p:txBody>
      </p:sp>
      <p:sp>
        <p:nvSpPr>
          <p:cNvPr id="20" name="card"/>
          <p:cNvSpPr/>
          <p:nvPr/>
        </p:nvSpPr>
        <p:spPr>
          <a:xfrm>
            <a:off x="5074920" y="4343400"/>
            <a:ext cx="4297680" cy="777240"/>
          </a:xfrm>
          <a:prstGeom prst="roundRect">
            <a:avLst>
              <a:gd name="adj" fmla="val 9412"/>
            </a:avLst>
          </a:prstGeom>
          <a:solidFill>
            <a:schemeClr val="bg2"/>
          </a:solidFill>
          <a:ln w="12700">
            <a:solidFill>
              <a:schemeClr val="accent2"/>
            </a:solidFill>
            <a:prstDash val="solid"/>
          </a:ln>
        </p:spPr>
      </p:sp>
      <p:sp>
        <p:nvSpPr>
          <p:cNvPr id="21" name="badge"/>
          <p:cNvSpPr/>
          <p:nvPr/>
        </p:nvSpPr>
        <p:spPr>
          <a:xfrm>
            <a:off x="5212080" y="4572000"/>
            <a:ext cx="310896" cy="310896"/>
          </a:xfrm>
          <a:prstGeom prst="ellipse">
            <a:avLst/>
          </a:prstGeom>
          <a:solidFill>
            <a:schemeClr val="accent2"/>
          </a:solidFill>
          <a:ln w="12700">
            <a:solidFill>
              <a:schemeClr val="accent2"/>
            </a:solidFill>
            <a:prstDash val="solid"/>
          </a:ln>
        </p:spPr>
      </p:sp>
      <p:sp>
        <p:nvSpPr>
          <p:cNvPr id="22" name="Text 20"/>
          <p:cNvSpPr txBox="1"/>
          <p:nvPr/>
        </p:nvSpPr>
        <p:spPr>
          <a:xfrm>
            <a:off x="5212080" y="45720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3" name="Text 21"/>
          <p:cNvSpPr txBox="1"/>
          <p:nvPr/>
        </p:nvSpPr>
        <p:spPr>
          <a:xfrm>
            <a:off x="5623560" y="4389120"/>
            <a:ext cx="3657600" cy="685800"/>
          </a:xfrm>
          <a:prstGeom prst="rect">
            <a:avLst/>
          </a:prstGeom>
          <a:noFill/>
          <a:ln/>
        </p:spPr>
        <p:txBody>
          <a:bodyPr wrap="square" lIns="635" tIns="635" rIns="635" bIns="635" rtlCol="0" anchor="ctr"/>
          <a:lstStyle/>
          <a:p>
            <a:pPr indent="0" marL="0">
              <a:buNone/>
            </a:pPr>
            <a:r>
              <a:rPr lang="en-US" sz="1400" dirty="0">
                <a:solidFill>
                  <a:schemeClr val="tx1"/>
                </a:solidFill>
              </a:rPr>
              <a:t>Use Word-level and Character-level features.</a:t>
            </a:r>
            <a:endParaRPr lang="en-US" sz="1400" dirty="0"/>
          </a:p>
        </p:txBody>
      </p:sp>
      <p:sp>
        <p:nvSpPr>
          <p:cNvPr id="24" name="card"/>
          <p:cNvSpPr/>
          <p:nvPr/>
        </p:nvSpPr>
        <p:spPr>
          <a:xfrm>
            <a:off x="640080" y="5257800"/>
            <a:ext cx="4297680" cy="777240"/>
          </a:xfrm>
          <a:prstGeom prst="roundRect">
            <a:avLst>
              <a:gd name="adj" fmla="val 9412"/>
            </a:avLst>
          </a:prstGeom>
          <a:solidFill>
            <a:schemeClr val="bg2"/>
          </a:solidFill>
          <a:ln w="12700">
            <a:solidFill>
              <a:schemeClr val="accent2"/>
            </a:solidFill>
            <a:prstDash val="solid"/>
          </a:ln>
        </p:spPr>
      </p:sp>
      <p:sp>
        <p:nvSpPr>
          <p:cNvPr id="25" name="badge"/>
          <p:cNvSpPr/>
          <p:nvPr/>
        </p:nvSpPr>
        <p:spPr>
          <a:xfrm>
            <a:off x="777240" y="5486400"/>
            <a:ext cx="310896" cy="310896"/>
          </a:xfrm>
          <a:prstGeom prst="ellipse">
            <a:avLst/>
          </a:prstGeom>
          <a:solidFill>
            <a:schemeClr val="accent2"/>
          </a:solidFill>
          <a:ln w="12700">
            <a:solidFill>
              <a:schemeClr val="accent2"/>
            </a:solidFill>
            <a:prstDash val="solid"/>
          </a:ln>
        </p:spPr>
      </p:sp>
      <p:sp>
        <p:nvSpPr>
          <p:cNvPr id="26" name="Text 24"/>
          <p:cNvSpPr txBox="1"/>
          <p:nvPr/>
        </p:nvSpPr>
        <p:spPr>
          <a:xfrm>
            <a:off x="777240" y="54864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7" name="Text 25"/>
          <p:cNvSpPr txBox="1"/>
          <p:nvPr/>
        </p:nvSpPr>
        <p:spPr>
          <a:xfrm>
            <a:off x="1188720" y="5303520"/>
            <a:ext cx="3657600" cy="685800"/>
          </a:xfrm>
          <a:prstGeom prst="rect">
            <a:avLst/>
          </a:prstGeom>
          <a:noFill/>
          <a:ln/>
        </p:spPr>
        <p:txBody>
          <a:bodyPr wrap="square" lIns="635" tIns="635" rIns="635" bIns="635" rtlCol="0" anchor="ctr"/>
          <a:lstStyle/>
          <a:p>
            <a:pPr indent="0" marL="0">
              <a:buNone/>
            </a:pPr>
            <a:r>
              <a:rPr lang="en-US" sz="1400" dirty="0">
                <a:solidFill>
                  <a:schemeClr val="tx1"/>
                </a:solidFill>
              </a:rPr>
              <a:t>Train a Random Forest classifier.</a:t>
            </a:r>
            <a:endParaRPr lang="en-US" sz="1400" dirty="0"/>
          </a:p>
        </p:txBody>
      </p:sp>
      <p:sp>
        <p:nvSpPr>
          <p:cNvPr id="28" name="card"/>
          <p:cNvSpPr/>
          <p:nvPr/>
        </p:nvSpPr>
        <p:spPr>
          <a:xfrm>
            <a:off x="5074920" y="5257800"/>
            <a:ext cx="4297680" cy="777240"/>
          </a:xfrm>
          <a:prstGeom prst="roundRect">
            <a:avLst>
              <a:gd name="adj" fmla="val 9412"/>
            </a:avLst>
          </a:prstGeom>
          <a:solidFill>
            <a:schemeClr val="bg2"/>
          </a:solidFill>
          <a:ln w="12700">
            <a:solidFill>
              <a:schemeClr val="accent2"/>
            </a:solidFill>
            <a:prstDash val="solid"/>
          </a:ln>
        </p:spPr>
      </p:sp>
      <p:sp>
        <p:nvSpPr>
          <p:cNvPr id="29" name="badge"/>
          <p:cNvSpPr/>
          <p:nvPr/>
        </p:nvSpPr>
        <p:spPr>
          <a:xfrm>
            <a:off x="5212080" y="5486400"/>
            <a:ext cx="310896" cy="310896"/>
          </a:xfrm>
          <a:prstGeom prst="ellipse">
            <a:avLst/>
          </a:prstGeom>
          <a:solidFill>
            <a:schemeClr val="accent2"/>
          </a:solidFill>
          <a:ln w="12700">
            <a:solidFill>
              <a:schemeClr val="accent2"/>
            </a:solidFill>
            <a:prstDash val="solid"/>
          </a:ln>
        </p:spPr>
      </p:sp>
      <p:sp>
        <p:nvSpPr>
          <p:cNvPr id="30" name="Text 28"/>
          <p:cNvSpPr txBox="1"/>
          <p:nvPr/>
        </p:nvSpPr>
        <p:spPr>
          <a:xfrm>
            <a:off x="5212080" y="54864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1" name="Text 29"/>
          <p:cNvSpPr txBox="1"/>
          <p:nvPr/>
        </p:nvSpPr>
        <p:spPr>
          <a:xfrm>
            <a:off x="5623560" y="5303520"/>
            <a:ext cx="3657600" cy="685800"/>
          </a:xfrm>
          <a:prstGeom prst="rect">
            <a:avLst/>
          </a:prstGeom>
          <a:noFill/>
          <a:ln/>
        </p:spPr>
        <p:txBody>
          <a:bodyPr wrap="square" lIns="635" tIns="635" rIns="635" bIns="635" rtlCol="0" anchor="ctr"/>
          <a:lstStyle/>
          <a:p>
            <a:pPr indent="0" marL="0">
              <a:buNone/>
            </a:pPr>
            <a:r>
              <a:rPr lang="en-US" sz="1400" dirty="0">
                <a:solidFill>
                  <a:schemeClr val="tx1"/>
                </a:solidFill>
              </a:rPr>
              <a:t>Predict sentiment for unseen text.</a:t>
            </a:r>
            <a:endParaRPr lang="en-US" sz="1400" dirty="0"/>
          </a:p>
        </p:txBody>
      </p:sp>
      <p:sp>
        <p:nvSpPr>
          <p:cNvPr id="32" name="card"/>
          <p:cNvSpPr/>
          <p:nvPr/>
        </p:nvSpPr>
        <p:spPr>
          <a:xfrm>
            <a:off x="640080" y="6172200"/>
            <a:ext cx="4297680" cy="777240"/>
          </a:xfrm>
          <a:prstGeom prst="roundRect">
            <a:avLst>
              <a:gd name="adj" fmla="val 9412"/>
            </a:avLst>
          </a:prstGeom>
          <a:solidFill>
            <a:schemeClr val="bg2"/>
          </a:solidFill>
          <a:ln w="12700">
            <a:solidFill>
              <a:schemeClr val="accent2"/>
            </a:solidFill>
            <a:prstDash val="solid"/>
          </a:ln>
        </p:spPr>
      </p:sp>
      <p:sp>
        <p:nvSpPr>
          <p:cNvPr id="33" name="badge"/>
          <p:cNvSpPr/>
          <p:nvPr/>
        </p:nvSpPr>
        <p:spPr>
          <a:xfrm>
            <a:off x="777240" y="6400800"/>
            <a:ext cx="310896" cy="310896"/>
          </a:xfrm>
          <a:prstGeom prst="ellipse">
            <a:avLst/>
          </a:prstGeom>
          <a:solidFill>
            <a:schemeClr val="accent2"/>
          </a:solidFill>
          <a:ln w="12700">
            <a:solidFill>
              <a:schemeClr val="accent2"/>
            </a:solidFill>
            <a:prstDash val="solid"/>
          </a:ln>
        </p:spPr>
      </p:sp>
      <p:sp>
        <p:nvSpPr>
          <p:cNvPr id="34" name="Text 32"/>
          <p:cNvSpPr txBox="1"/>
          <p:nvPr/>
        </p:nvSpPr>
        <p:spPr>
          <a:xfrm>
            <a:off x="777240" y="64008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5" name="Text 33"/>
          <p:cNvSpPr txBox="1"/>
          <p:nvPr/>
        </p:nvSpPr>
        <p:spPr>
          <a:xfrm>
            <a:off x="1188720" y="6217920"/>
            <a:ext cx="3657600" cy="685800"/>
          </a:xfrm>
          <a:prstGeom prst="rect">
            <a:avLst/>
          </a:prstGeom>
          <a:noFill/>
          <a:ln/>
        </p:spPr>
        <p:txBody>
          <a:bodyPr wrap="square" lIns="635" tIns="635" rIns="635" bIns="635" rtlCol="0" anchor="ctr"/>
          <a:lstStyle/>
          <a:p>
            <a:pPr indent="0" marL="0">
              <a:buNone/>
            </a:pPr>
            <a:r>
              <a:rPr lang="en-US" sz="1400" dirty="0">
                <a:solidFill>
                  <a:schemeClr val="tx1"/>
                </a:solidFill>
              </a:rPr>
              <a:t>Improve prediction with rule-based analysis.</a:t>
            </a:r>
            <a:endParaRPr lang="en-US" sz="1400" dirty="0"/>
          </a:p>
        </p:txBody>
      </p:sp>
      <p:sp>
        <p:nvSpPr>
          <p:cNvPr id="36" name="card"/>
          <p:cNvSpPr/>
          <p:nvPr/>
        </p:nvSpPr>
        <p:spPr>
          <a:xfrm>
            <a:off x="5074920" y="6172200"/>
            <a:ext cx="4297680" cy="777240"/>
          </a:xfrm>
          <a:prstGeom prst="roundRect">
            <a:avLst>
              <a:gd name="adj" fmla="val 9412"/>
            </a:avLst>
          </a:prstGeom>
          <a:solidFill>
            <a:schemeClr val="bg2"/>
          </a:solidFill>
          <a:ln w="12700">
            <a:solidFill>
              <a:schemeClr val="accent2"/>
            </a:solidFill>
            <a:prstDash val="solid"/>
          </a:ln>
        </p:spPr>
      </p:sp>
      <p:sp>
        <p:nvSpPr>
          <p:cNvPr id="37" name="badge"/>
          <p:cNvSpPr/>
          <p:nvPr/>
        </p:nvSpPr>
        <p:spPr>
          <a:xfrm>
            <a:off x="5212080" y="6400800"/>
            <a:ext cx="310896" cy="310896"/>
          </a:xfrm>
          <a:prstGeom prst="ellipse">
            <a:avLst/>
          </a:prstGeom>
          <a:solidFill>
            <a:schemeClr val="accent2"/>
          </a:solidFill>
          <a:ln w="12700">
            <a:solidFill>
              <a:schemeClr val="accent2"/>
            </a:solidFill>
            <a:prstDash val="solid"/>
          </a:ln>
        </p:spPr>
      </p:sp>
      <p:sp>
        <p:nvSpPr>
          <p:cNvPr id="38" name="Text 36"/>
          <p:cNvSpPr txBox="1"/>
          <p:nvPr/>
        </p:nvSpPr>
        <p:spPr>
          <a:xfrm>
            <a:off x="5212080" y="640080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39" name="Text 37"/>
          <p:cNvSpPr txBox="1"/>
          <p:nvPr/>
        </p:nvSpPr>
        <p:spPr>
          <a:xfrm>
            <a:off x="5623560" y="6217920"/>
            <a:ext cx="3657600" cy="685800"/>
          </a:xfrm>
          <a:prstGeom prst="rect">
            <a:avLst/>
          </a:prstGeom>
          <a:noFill/>
          <a:ln/>
        </p:spPr>
        <p:txBody>
          <a:bodyPr wrap="square" lIns="635" tIns="635" rIns="635" bIns="635" rtlCol="0" anchor="ctr"/>
          <a:lstStyle/>
          <a:p>
            <a:pPr indent="0" marL="0">
              <a:buNone/>
            </a:pPr>
            <a:r>
              <a:rPr lang="en-US" sz="1400" dirty="0">
                <a:solidFill>
                  <a:schemeClr val="tx1"/>
                </a:solidFill>
              </a:rPr>
              <a:t>Provide a simple interface to enter text and see the result.</a:t>
            </a:r>
            <a:endParaRPr lang="en-US" sz="14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SYSTEM ARCHITECTURE</a:t>
            </a:r>
            <a:endParaRPr lang="en-US" sz="1600" dirty="0"/>
          </a:p>
        </p:txBody>
      </p:sp>
      <p:sp>
        <p:nvSpPr>
          <p:cNvPr id="4" name="layer"/>
          <p:cNvSpPr/>
          <p:nvPr/>
        </p:nvSpPr>
        <p:spPr>
          <a:xfrm>
            <a:off x="822960" y="1051560"/>
            <a:ext cx="8412480" cy="731520"/>
          </a:xfrm>
          <a:prstGeom prst="roundRect">
            <a:avLst>
              <a:gd name="adj" fmla="val 10000"/>
            </a:avLst>
          </a:prstGeom>
          <a:solidFill>
            <a:srgbClr val="F2F2F2"/>
          </a:solidFill>
          <a:ln w="19050">
            <a:solidFill>
              <a:schemeClr val="tx1"/>
            </a:solidFill>
            <a:prstDash val="solid"/>
          </a:ln>
        </p:spPr>
      </p:sp>
      <p:sp>
        <p:nvSpPr>
          <p:cNvPr id="5" name="Text 3"/>
          <p:cNvSpPr txBox="1"/>
          <p:nvPr/>
        </p:nvSpPr>
        <p:spPr>
          <a:xfrm>
            <a:off x="822960" y="1051560"/>
            <a:ext cx="8412480" cy="731520"/>
          </a:xfrm>
          <a:prstGeom prst="rect">
            <a:avLst/>
          </a:prstGeom>
          <a:noFill/>
          <a:ln/>
        </p:spPr>
        <p:txBody>
          <a:bodyPr wrap="square" lIns="635" tIns="635" rIns="635" bIns="635" rtlCol="0" anchor="ctr"/>
          <a:lstStyle/>
          <a:p>
            <a:pPr algn="ctr" indent="0" marL="0">
              <a:buNone/>
            </a:pPr>
            <a:r>
              <a:rPr lang="en-US" sz="1500" b="1" dirty="0">
                <a:solidFill>
                  <a:schemeClr val="tx2"/>
                </a:solidFill>
              </a:rPr>
              <a:t>USER (web browser) – enters a tweet or sentence</a:t>
            </a:r>
            <a:endParaRPr lang="en-US" sz="1500" dirty="0"/>
          </a:p>
        </p:txBody>
      </p:sp>
      <p:sp>
        <p:nvSpPr>
          <p:cNvPr id="6" name="arrow"/>
          <p:cNvSpPr/>
          <p:nvPr/>
        </p:nvSpPr>
        <p:spPr>
          <a:xfrm>
            <a:off x="4800600" y="1828800"/>
            <a:ext cx="457200" cy="365760"/>
          </a:xfrm>
          <a:prstGeom prst="downArrow">
            <a:avLst/>
          </a:prstGeom>
          <a:solidFill>
            <a:schemeClr val="accent2"/>
          </a:solidFill>
          <a:ln w="12700">
            <a:solidFill>
              <a:schemeClr val="accent2"/>
            </a:solidFill>
            <a:prstDash val="solid"/>
          </a:ln>
        </p:spPr>
      </p:sp>
      <p:sp>
        <p:nvSpPr>
          <p:cNvPr id="7" name="layer"/>
          <p:cNvSpPr/>
          <p:nvPr/>
        </p:nvSpPr>
        <p:spPr>
          <a:xfrm>
            <a:off x="822960" y="2286000"/>
            <a:ext cx="8412480" cy="822960"/>
          </a:xfrm>
          <a:prstGeom prst="roundRect">
            <a:avLst>
              <a:gd name="adj" fmla="val 8889"/>
            </a:avLst>
          </a:prstGeom>
          <a:solidFill>
            <a:srgbClr val="DCE6F7"/>
          </a:solidFill>
          <a:ln w="19050">
            <a:solidFill>
              <a:schemeClr val="accent2"/>
            </a:solidFill>
            <a:prstDash val="solid"/>
          </a:ln>
        </p:spPr>
      </p:sp>
      <p:sp>
        <p:nvSpPr>
          <p:cNvPr id="8" name="Text 6"/>
          <p:cNvSpPr txBox="1"/>
          <p:nvPr/>
        </p:nvSpPr>
        <p:spPr>
          <a:xfrm>
            <a:off x="822960" y="2286000"/>
            <a:ext cx="8412480" cy="822960"/>
          </a:xfrm>
          <a:prstGeom prst="rect">
            <a:avLst/>
          </a:prstGeom>
          <a:noFill/>
          <a:ln/>
        </p:spPr>
        <p:txBody>
          <a:bodyPr wrap="square" lIns="635" tIns="635" rIns="635" bIns="635" rtlCol="0" anchor="ctr"/>
          <a:lstStyle/>
          <a:p>
            <a:pPr algn="ctr" indent="0" marL="0">
              <a:buNone/>
            </a:pPr>
            <a:r>
              <a:rPr lang="en-US" sz="1500" b="1" dirty="0">
                <a:solidFill>
                  <a:schemeClr val="tx2"/>
                </a:solidFill>
              </a:rPr>
              <a:t>FLASK WEB INTERFACE (HTML + CSS)</a:t>
            </a:r>
            <a:endParaRPr lang="en-US" sz="1500" dirty="0"/>
          </a:p>
          <a:p>
            <a:pPr algn="ctr" indent="0" marL="0">
              <a:buNone/>
            </a:pPr>
            <a:r>
              <a:rPr lang="en-US" sz="1500" b="1" dirty="0">
                <a:solidFill>
                  <a:schemeClr val="tx2"/>
                </a:solidFill>
              </a:rPr>
              <a:t>text box · Analyze Sentiment button · example inputs · prediction card</a:t>
            </a:r>
            <a:endParaRPr lang="en-US" sz="1500" dirty="0"/>
          </a:p>
        </p:txBody>
      </p:sp>
      <p:sp>
        <p:nvSpPr>
          <p:cNvPr id="9" name="arrow"/>
          <p:cNvSpPr/>
          <p:nvPr/>
        </p:nvSpPr>
        <p:spPr>
          <a:xfrm>
            <a:off x="4800600" y="3154680"/>
            <a:ext cx="457200" cy="365760"/>
          </a:xfrm>
          <a:prstGeom prst="downArrow">
            <a:avLst/>
          </a:prstGeom>
          <a:solidFill>
            <a:schemeClr val="accent2"/>
          </a:solidFill>
          <a:ln w="12700">
            <a:solidFill>
              <a:schemeClr val="accent2"/>
            </a:solidFill>
            <a:prstDash val="solid"/>
          </a:ln>
        </p:spPr>
      </p:sp>
      <p:sp>
        <p:nvSpPr>
          <p:cNvPr id="10" name="layer"/>
          <p:cNvSpPr/>
          <p:nvPr/>
        </p:nvSpPr>
        <p:spPr>
          <a:xfrm>
            <a:off x="822960" y="3611880"/>
            <a:ext cx="8412480" cy="731520"/>
          </a:xfrm>
          <a:prstGeom prst="roundRect">
            <a:avLst>
              <a:gd name="adj" fmla="val 10000"/>
            </a:avLst>
          </a:prstGeom>
          <a:solidFill>
            <a:srgbClr val="FFF3E8"/>
          </a:solidFill>
          <a:ln w="19050">
            <a:solidFill>
              <a:schemeClr val="accent1"/>
            </a:solidFill>
            <a:prstDash val="solid"/>
          </a:ln>
        </p:spPr>
      </p:sp>
      <p:sp>
        <p:nvSpPr>
          <p:cNvPr id="11" name="Text 9"/>
          <p:cNvSpPr txBox="1"/>
          <p:nvPr/>
        </p:nvSpPr>
        <p:spPr>
          <a:xfrm>
            <a:off x="822960" y="3611880"/>
            <a:ext cx="8412480" cy="731520"/>
          </a:xfrm>
          <a:prstGeom prst="rect">
            <a:avLst/>
          </a:prstGeom>
          <a:noFill/>
          <a:ln/>
        </p:spPr>
        <p:txBody>
          <a:bodyPr wrap="square" lIns="635" tIns="635" rIns="635" bIns="635" rtlCol="0" anchor="ctr"/>
          <a:lstStyle/>
          <a:p>
            <a:pPr algn="ctr" indent="0" marL="0">
              <a:buNone/>
            </a:pPr>
            <a:r>
              <a:rPr lang="en-US" sz="1500" b="1" dirty="0">
                <a:solidFill>
                  <a:schemeClr val="tx2"/>
                </a:solidFill>
              </a:rPr>
              <a:t>PREDICTION MODULE (predict.py) – loads saved model and vectorizers (Joblib)</a:t>
            </a:r>
            <a:endParaRPr lang="en-US" sz="1500" dirty="0"/>
          </a:p>
        </p:txBody>
      </p:sp>
      <p:sp>
        <p:nvSpPr>
          <p:cNvPr id="12" name="step"/>
          <p:cNvSpPr/>
          <p:nvPr/>
        </p:nvSpPr>
        <p:spPr>
          <a:xfrm>
            <a:off x="822960" y="4572000"/>
            <a:ext cx="1965960" cy="868680"/>
          </a:xfrm>
          <a:prstGeom prst="roundRect">
            <a:avLst>
              <a:gd name="adj" fmla="val 8421"/>
            </a:avLst>
          </a:prstGeom>
          <a:solidFill>
            <a:schemeClr val="accent2"/>
          </a:solidFill>
          <a:ln w="12700">
            <a:solidFill>
              <a:schemeClr val="accent2"/>
            </a:solidFill>
            <a:prstDash val="solid"/>
          </a:ln>
        </p:spPr>
      </p:sp>
      <p:sp>
        <p:nvSpPr>
          <p:cNvPr id="13" name="Text 11"/>
          <p:cNvSpPr txBox="1"/>
          <p:nvPr/>
        </p:nvSpPr>
        <p:spPr>
          <a:xfrm>
            <a:off x="822960" y="4572000"/>
            <a:ext cx="1965960" cy="868680"/>
          </a:xfrm>
          <a:prstGeom prst="rect">
            <a:avLst/>
          </a:prstGeom>
          <a:noFill/>
          <a:ln/>
        </p:spPr>
        <p:txBody>
          <a:bodyPr wrap="square" lIns="635" tIns="635" rIns="635" bIns="635" rtlCol="0" anchor="ctr"/>
          <a:lstStyle/>
          <a:p>
            <a:pPr algn="ctr" indent="0" marL="0">
              <a:buNone/>
            </a:pPr>
            <a:r>
              <a:rPr lang="en-US" sz="1300" b="1" dirty="0">
                <a:solidFill>
                  <a:schemeClr val="bg1"/>
                </a:solidFill>
              </a:rPr>
              <a:t>Text preprocessing</a:t>
            </a:r>
            <a:endParaRPr lang="en-US" sz="1300" dirty="0"/>
          </a:p>
        </p:txBody>
      </p:sp>
      <p:sp>
        <p:nvSpPr>
          <p:cNvPr id="14" name="Text 12"/>
          <p:cNvSpPr txBox="1"/>
          <p:nvPr/>
        </p:nvSpPr>
        <p:spPr>
          <a:xfrm>
            <a:off x="2743200" y="4709160"/>
            <a:ext cx="274320" cy="54864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15" name="step"/>
          <p:cNvSpPr/>
          <p:nvPr/>
        </p:nvSpPr>
        <p:spPr>
          <a:xfrm>
            <a:off x="2971800" y="4572000"/>
            <a:ext cx="1965960" cy="868680"/>
          </a:xfrm>
          <a:prstGeom prst="roundRect">
            <a:avLst>
              <a:gd name="adj" fmla="val 8421"/>
            </a:avLst>
          </a:prstGeom>
          <a:solidFill>
            <a:schemeClr val="accent1"/>
          </a:solidFill>
          <a:ln w="12700">
            <a:solidFill>
              <a:schemeClr val="accent1"/>
            </a:solidFill>
            <a:prstDash val="solid"/>
          </a:ln>
        </p:spPr>
      </p:sp>
      <p:sp>
        <p:nvSpPr>
          <p:cNvPr id="16" name="Text 14"/>
          <p:cNvSpPr txBox="1"/>
          <p:nvPr/>
        </p:nvSpPr>
        <p:spPr>
          <a:xfrm>
            <a:off x="2971800" y="4572000"/>
            <a:ext cx="1965960" cy="868680"/>
          </a:xfrm>
          <a:prstGeom prst="rect">
            <a:avLst/>
          </a:prstGeom>
          <a:noFill/>
          <a:ln/>
        </p:spPr>
        <p:txBody>
          <a:bodyPr wrap="square" lIns="635" tIns="635" rIns="635" bIns="635" rtlCol="0" anchor="ctr"/>
          <a:lstStyle/>
          <a:p>
            <a:pPr algn="ctr" indent="0" marL="0">
              <a:buNone/>
            </a:pPr>
            <a:r>
              <a:rPr lang="en-US" sz="1300" b="1" dirty="0">
                <a:solidFill>
                  <a:schemeClr val="bg1"/>
                </a:solidFill>
              </a:rPr>
              <a:t>Word + Character TF-IDF</a:t>
            </a:r>
            <a:endParaRPr lang="en-US" sz="1300" dirty="0"/>
          </a:p>
        </p:txBody>
      </p:sp>
      <p:sp>
        <p:nvSpPr>
          <p:cNvPr id="17" name="Text 15"/>
          <p:cNvSpPr txBox="1"/>
          <p:nvPr/>
        </p:nvSpPr>
        <p:spPr>
          <a:xfrm>
            <a:off x="4892040" y="4709160"/>
            <a:ext cx="274320" cy="54864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18" name="step"/>
          <p:cNvSpPr/>
          <p:nvPr/>
        </p:nvSpPr>
        <p:spPr>
          <a:xfrm>
            <a:off x="5120640" y="4572000"/>
            <a:ext cx="1965960" cy="868680"/>
          </a:xfrm>
          <a:prstGeom prst="roundRect">
            <a:avLst>
              <a:gd name="adj" fmla="val 8421"/>
            </a:avLst>
          </a:prstGeom>
          <a:solidFill>
            <a:schemeClr val="accent4"/>
          </a:solidFill>
          <a:ln w="12700">
            <a:solidFill>
              <a:schemeClr val="accent4"/>
            </a:solidFill>
            <a:prstDash val="solid"/>
          </a:ln>
        </p:spPr>
      </p:sp>
      <p:sp>
        <p:nvSpPr>
          <p:cNvPr id="19" name="Text 17"/>
          <p:cNvSpPr txBox="1"/>
          <p:nvPr/>
        </p:nvSpPr>
        <p:spPr>
          <a:xfrm>
            <a:off x="5120640" y="4572000"/>
            <a:ext cx="1965960" cy="868680"/>
          </a:xfrm>
          <a:prstGeom prst="rect">
            <a:avLst/>
          </a:prstGeom>
          <a:noFill/>
          <a:ln/>
        </p:spPr>
        <p:txBody>
          <a:bodyPr wrap="square" lIns="635" tIns="635" rIns="635" bIns="635" rtlCol="0" anchor="ctr"/>
          <a:lstStyle/>
          <a:p>
            <a:pPr algn="ctr" indent="0" marL="0">
              <a:buNone/>
            </a:pPr>
            <a:r>
              <a:rPr lang="en-US" sz="1300" b="1" dirty="0">
                <a:solidFill>
                  <a:schemeClr val="bg1"/>
                </a:solidFill>
              </a:rPr>
              <a:t>Random Forest (100 trees)</a:t>
            </a:r>
            <a:endParaRPr lang="en-US" sz="1300" dirty="0"/>
          </a:p>
        </p:txBody>
      </p:sp>
      <p:sp>
        <p:nvSpPr>
          <p:cNvPr id="20" name="Text 18"/>
          <p:cNvSpPr txBox="1"/>
          <p:nvPr/>
        </p:nvSpPr>
        <p:spPr>
          <a:xfrm>
            <a:off x="7040880" y="4709160"/>
            <a:ext cx="274320" cy="54864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21" name="step"/>
          <p:cNvSpPr/>
          <p:nvPr/>
        </p:nvSpPr>
        <p:spPr>
          <a:xfrm>
            <a:off x="7269480" y="4572000"/>
            <a:ext cx="1965960" cy="868680"/>
          </a:xfrm>
          <a:prstGeom prst="roundRect">
            <a:avLst>
              <a:gd name="adj" fmla="val 8421"/>
            </a:avLst>
          </a:prstGeom>
          <a:solidFill>
            <a:schemeClr val="accent3"/>
          </a:solidFill>
          <a:ln w="12700">
            <a:solidFill>
              <a:schemeClr val="accent3"/>
            </a:solidFill>
            <a:prstDash val="solid"/>
          </a:ln>
        </p:spPr>
      </p:sp>
      <p:sp>
        <p:nvSpPr>
          <p:cNvPr id="22" name="Text 20"/>
          <p:cNvSpPr txBox="1"/>
          <p:nvPr/>
        </p:nvSpPr>
        <p:spPr>
          <a:xfrm>
            <a:off x="7269480" y="4572000"/>
            <a:ext cx="1965960" cy="868680"/>
          </a:xfrm>
          <a:prstGeom prst="rect">
            <a:avLst/>
          </a:prstGeom>
          <a:noFill/>
          <a:ln/>
        </p:spPr>
        <p:txBody>
          <a:bodyPr wrap="square" lIns="635" tIns="635" rIns="635" bIns="635" rtlCol="0" anchor="ctr"/>
          <a:lstStyle/>
          <a:p>
            <a:pPr algn="ctr" indent="0" marL="0">
              <a:buNone/>
            </a:pPr>
            <a:r>
              <a:rPr lang="en-US" sz="1300" b="1" dirty="0">
                <a:solidFill>
                  <a:schemeClr val="bg1"/>
                </a:solidFill>
              </a:rPr>
              <a:t>Rule-based analysis</a:t>
            </a:r>
            <a:endParaRPr lang="en-US" sz="1300" dirty="0"/>
          </a:p>
        </p:txBody>
      </p:sp>
      <p:sp>
        <p:nvSpPr>
          <p:cNvPr id="23" name="arrow"/>
          <p:cNvSpPr/>
          <p:nvPr/>
        </p:nvSpPr>
        <p:spPr>
          <a:xfrm>
            <a:off x="4800600" y="5486400"/>
            <a:ext cx="457200" cy="365760"/>
          </a:xfrm>
          <a:prstGeom prst="downArrow">
            <a:avLst/>
          </a:prstGeom>
          <a:solidFill>
            <a:schemeClr val="accent2"/>
          </a:solidFill>
          <a:ln w="12700">
            <a:solidFill>
              <a:schemeClr val="accent2"/>
            </a:solidFill>
            <a:prstDash val="solid"/>
          </a:ln>
        </p:spPr>
      </p:sp>
      <p:sp>
        <p:nvSpPr>
          <p:cNvPr id="24" name="layer"/>
          <p:cNvSpPr/>
          <p:nvPr/>
        </p:nvSpPr>
        <p:spPr>
          <a:xfrm>
            <a:off x="822960" y="5943600"/>
            <a:ext cx="8412480" cy="640080"/>
          </a:xfrm>
          <a:prstGeom prst="roundRect">
            <a:avLst>
              <a:gd name="adj" fmla="val 11429"/>
            </a:avLst>
          </a:prstGeom>
          <a:solidFill>
            <a:srgbClr val="E2F0E2"/>
          </a:solidFill>
          <a:ln w="19050">
            <a:solidFill>
              <a:schemeClr val="accent3"/>
            </a:solidFill>
            <a:prstDash val="solid"/>
          </a:ln>
        </p:spPr>
      </p:sp>
      <p:sp>
        <p:nvSpPr>
          <p:cNvPr id="25" name="Text 23"/>
          <p:cNvSpPr txBox="1"/>
          <p:nvPr/>
        </p:nvSpPr>
        <p:spPr>
          <a:xfrm>
            <a:off x="822960" y="5943600"/>
            <a:ext cx="8412480" cy="640080"/>
          </a:xfrm>
          <a:prstGeom prst="rect">
            <a:avLst/>
          </a:prstGeom>
          <a:noFill/>
          <a:ln/>
        </p:spPr>
        <p:txBody>
          <a:bodyPr wrap="square" lIns="635" tIns="635" rIns="635" bIns="635" rtlCol="0" anchor="ctr"/>
          <a:lstStyle/>
          <a:p>
            <a:pPr algn="ctr" indent="0" marL="0">
              <a:buNone/>
            </a:pPr>
            <a:r>
              <a:rPr lang="en-US" sz="1500" b="1" dirty="0">
                <a:solidFill>
                  <a:schemeClr val="tx2"/>
                </a:solidFill>
              </a:rPr>
              <a:t>OUTPUT – final sentiment: Positive | Negative | Neutral</a:t>
            </a:r>
            <a:endParaRPr lang="en-US" sz="1500" dirty="0"/>
          </a:p>
        </p:txBody>
      </p:sp>
      <p:sp>
        <p:nvSpPr>
          <p:cNvPr id="26" name="Text 24"/>
          <p:cNvSpPr txBox="1"/>
          <p:nvPr/>
        </p:nvSpPr>
        <p:spPr>
          <a:xfrm>
            <a:off x="822960" y="6675120"/>
            <a:ext cx="8412480" cy="502920"/>
          </a:xfrm>
          <a:prstGeom prst="rect">
            <a:avLst/>
          </a:prstGeom>
          <a:noFill/>
          <a:ln/>
        </p:spPr>
        <p:txBody>
          <a:bodyPr wrap="square" lIns="635" tIns="635" rIns="635" bIns="635" rtlCol="0" anchor="t"/>
          <a:lstStyle/>
          <a:p>
            <a:pPr algn="ctr" indent="0" marL="0">
              <a:buNone/>
            </a:pPr>
            <a:r>
              <a:rPr lang="en-US" sz="1200" i="1" dirty="0">
                <a:solidFill>
                  <a:schemeClr val="tx2"/>
                </a:solidFill>
              </a:rPr>
              <a:t>The same preprocessing and the saved vectorizers are reused at prediction time, so a new tweet is transformed exactly like the training data.</a:t>
            </a:r>
            <a:endParaRPr lang="en-US" sz="12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PROJECT WORKFLOW</a:t>
            </a:r>
            <a:endParaRPr lang="en-US" sz="1600" dirty="0"/>
          </a:p>
        </p:txBody>
      </p:sp>
      <p:sp>
        <p:nvSpPr>
          <p:cNvPr id="4" name="group"/>
          <p:cNvSpPr/>
          <p:nvPr/>
        </p:nvSpPr>
        <p:spPr>
          <a:xfrm>
            <a:off x="502920" y="1188720"/>
            <a:ext cx="2103120" cy="731520"/>
          </a:xfrm>
          <a:prstGeom prst="roundRect">
            <a:avLst>
              <a:gd name="adj" fmla="val 10000"/>
            </a:avLst>
          </a:prstGeom>
          <a:solidFill>
            <a:schemeClr val="accent2"/>
          </a:solidFill>
          <a:ln w="12700">
            <a:solidFill>
              <a:schemeClr val="accent2"/>
            </a:solidFill>
            <a:prstDash val="solid"/>
          </a:ln>
        </p:spPr>
      </p:sp>
      <p:sp>
        <p:nvSpPr>
          <p:cNvPr id="5" name="Text 3"/>
          <p:cNvSpPr txBox="1"/>
          <p:nvPr/>
        </p:nvSpPr>
        <p:spPr>
          <a:xfrm>
            <a:off x="502920" y="1188720"/>
            <a:ext cx="210312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DATA</a:t>
            </a:r>
            <a:endParaRPr lang="en-US" sz="1400" dirty="0"/>
          </a:p>
          <a:p>
            <a:pPr algn="ctr" indent="0" marL="0">
              <a:buNone/>
            </a:pPr>
            <a:r>
              <a:rPr lang="en-US" sz="1400" b="1" dirty="0">
                <a:solidFill>
                  <a:schemeClr val="bg1"/>
                </a:solidFill>
              </a:rPr>
              <a:t>Steps 1 - 3</a:t>
            </a:r>
            <a:endParaRPr lang="en-US" sz="1400" dirty="0"/>
          </a:p>
        </p:txBody>
      </p:sp>
      <p:sp>
        <p:nvSpPr>
          <p:cNvPr id="6" name="step"/>
          <p:cNvSpPr/>
          <p:nvPr/>
        </p:nvSpPr>
        <p:spPr>
          <a:xfrm>
            <a:off x="502920" y="2286000"/>
            <a:ext cx="2103120" cy="914400"/>
          </a:xfrm>
          <a:prstGeom prst="roundRect">
            <a:avLst>
              <a:gd name="adj" fmla="val 8000"/>
            </a:avLst>
          </a:prstGeom>
          <a:solidFill>
            <a:schemeClr val="bg2"/>
          </a:solidFill>
          <a:ln w="19050">
            <a:solidFill>
              <a:schemeClr val="accent2"/>
            </a:solidFill>
            <a:prstDash val="solid"/>
          </a:ln>
        </p:spPr>
      </p:sp>
      <p:sp>
        <p:nvSpPr>
          <p:cNvPr id="7" name="Text 5"/>
          <p:cNvSpPr txBox="1"/>
          <p:nvPr/>
        </p:nvSpPr>
        <p:spPr>
          <a:xfrm>
            <a:off x="548640" y="228600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1. Dataset</a:t>
            </a:r>
            <a:endParaRPr lang="en-US" sz="1400" dirty="0"/>
          </a:p>
          <a:p>
            <a:pPr algn="ctr" indent="0" marL="0">
              <a:buNone/>
            </a:pPr>
            <a:r>
              <a:rPr lang="en-US" sz="1100" dirty="0">
                <a:solidFill>
                  <a:schemeClr val="tx1"/>
                </a:solidFill>
              </a:rPr>
              <a:t>Kaggle, 74,682 tweets</a:t>
            </a:r>
            <a:endParaRPr lang="en-US" sz="1400" dirty="0"/>
          </a:p>
        </p:txBody>
      </p:sp>
      <p:sp>
        <p:nvSpPr>
          <p:cNvPr id="8" name="arrow"/>
          <p:cNvSpPr/>
          <p:nvPr/>
        </p:nvSpPr>
        <p:spPr>
          <a:xfrm>
            <a:off x="1417320" y="3218688"/>
            <a:ext cx="274320" cy="274320"/>
          </a:xfrm>
          <a:prstGeom prst="downArrow">
            <a:avLst/>
          </a:prstGeom>
          <a:solidFill>
            <a:schemeClr val="accent2"/>
          </a:solidFill>
          <a:ln w="12700">
            <a:solidFill>
              <a:schemeClr val="accent2"/>
            </a:solidFill>
            <a:prstDash val="solid"/>
          </a:ln>
        </p:spPr>
      </p:sp>
      <p:sp>
        <p:nvSpPr>
          <p:cNvPr id="9" name="step"/>
          <p:cNvSpPr/>
          <p:nvPr/>
        </p:nvSpPr>
        <p:spPr>
          <a:xfrm>
            <a:off x="502920" y="3520440"/>
            <a:ext cx="2103120" cy="914400"/>
          </a:xfrm>
          <a:prstGeom prst="roundRect">
            <a:avLst>
              <a:gd name="adj" fmla="val 8000"/>
            </a:avLst>
          </a:prstGeom>
          <a:solidFill>
            <a:schemeClr val="bg2"/>
          </a:solidFill>
          <a:ln w="19050">
            <a:solidFill>
              <a:schemeClr val="accent2"/>
            </a:solidFill>
            <a:prstDash val="solid"/>
          </a:ln>
        </p:spPr>
      </p:sp>
      <p:sp>
        <p:nvSpPr>
          <p:cNvPr id="10" name="Text 8"/>
          <p:cNvSpPr txBox="1"/>
          <p:nvPr/>
        </p:nvSpPr>
        <p:spPr>
          <a:xfrm>
            <a:off x="548640" y="352044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2. Data Processing</a:t>
            </a:r>
            <a:endParaRPr lang="en-US" sz="1400" dirty="0"/>
          </a:p>
          <a:p>
            <a:pPr algn="ctr" indent="0" marL="0">
              <a:buNone/>
            </a:pPr>
            <a:r>
              <a:rPr lang="en-US" sz="1100" dirty="0">
                <a:solidFill>
                  <a:schemeClr val="tx1"/>
                </a:solidFill>
              </a:rPr>
              <a:t>drop missing, keep 3 classes → 61,121</a:t>
            </a:r>
            <a:endParaRPr lang="en-US" sz="1400" dirty="0"/>
          </a:p>
        </p:txBody>
      </p:sp>
      <p:sp>
        <p:nvSpPr>
          <p:cNvPr id="11" name="arrow"/>
          <p:cNvSpPr/>
          <p:nvPr/>
        </p:nvSpPr>
        <p:spPr>
          <a:xfrm>
            <a:off x="1417320" y="4453128"/>
            <a:ext cx="274320" cy="274320"/>
          </a:xfrm>
          <a:prstGeom prst="downArrow">
            <a:avLst/>
          </a:prstGeom>
          <a:solidFill>
            <a:schemeClr val="accent2"/>
          </a:solidFill>
          <a:ln w="12700">
            <a:solidFill>
              <a:schemeClr val="accent2"/>
            </a:solidFill>
            <a:prstDash val="solid"/>
          </a:ln>
        </p:spPr>
      </p:sp>
      <p:sp>
        <p:nvSpPr>
          <p:cNvPr id="12" name="step"/>
          <p:cNvSpPr/>
          <p:nvPr/>
        </p:nvSpPr>
        <p:spPr>
          <a:xfrm>
            <a:off x="502920" y="4754880"/>
            <a:ext cx="2103120" cy="914400"/>
          </a:xfrm>
          <a:prstGeom prst="roundRect">
            <a:avLst>
              <a:gd name="adj" fmla="val 8000"/>
            </a:avLst>
          </a:prstGeom>
          <a:solidFill>
            <a:schemeClr val="bg2"/>
          </a:solidFill>
          <a:ln w="19050">
            <a:solidFill>
              <a:schemeClr val="accent2"/>
            </a:solidFill>
            <a:prstDash val="solid"/>
          </a:ln>
        </p:spPr>
      </p:sp>
      <p:sp>
        <p:nvSpPr>
          <p:cNvPr id="13" name="Text 11"/>
          <p:cNvSpPr txBox="1"/>
          <p:nvPr/>
        </p:nvSpPr>
        <p:spPr>
          <a:xfrm>
            <a:off x="548640" y="475488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3. Text Preprocessing</a:t>
            </a:r>
            <a:endParaRPr lang="en-US" sz="1400" dirty="0"/>
          </a:p>
          <a:p>
            <a:pPr algn="ctr" indent="0" marL="0">
              <a:buNone/>
            </a:pPr>
            <a:r>
              <a:rPr lang="en-US" sz="1100" dirty="0">
                <a:solidFill>
                  <a:schemeClr val="tx1"/>
                </a:solidFill>
              </a:rPr>
              <a:t>lowercase, URLs, mentions, symbols, spaces</a:t>
            </a:r>
            <a:endParaRPr lang="en-US" sz="1400" dirty="0"/>
          </a:p>
        </p:txBody>
      </p:sp>
      <p:sp>
        <p:nvSpPr>
          <p:cNvPr id="14" name="Text 12"/>
          <p:cNvSpPr txBox="1"/>
          <p:nvPr/>
        </p:nvSpPr>
        <p:spPr>
          <a:xfrm>
            <a:off x="2606040" y="1234440"/>
            <a:ext cx="182880" cy="6400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15" name="group"/>
          <p:cNvSpPr/>
          <p:nvPr/>
        </p:nvSpPr>
        <p:spPr>
          <a:xfrm>
            <a:off x="2788920" y="1188720"/>
            <a:ext cx="2103120" cy="731520"/>
          </a:xfrm>
          <a:prstGeom prst="roundRect">
            <a:avLst>
              <a:gd name="adj" fmla="val 10000"/>
            </a:avLst>
          </a:prstGeom>
          <a:solidFill>
            <a:schemeClr val="accent1"/>
          </a:solidFill>
          <a:ln w="12700">
            <a:solidFill>
              <a:schemeClr val="accent1"/>
            </a:solidFill>
            <a:prstDash val="solid"/>
          </a:ln>
        </p:spPr>
      </p:sp>
      <p:sp>
        <p:nvSpPr>
          <p:cNvPr id="16" name="Text 14"/>
          <p:cNvSpPr txBox="1"/>
          <p:nvPr/>
        </p:nvSpPr>
        <p:spPr>
          <a:xfrm>
            <a:off x="2788920" y="1188720"/>
            <a:ext cx="210312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FEATURES</a:t>
            </a:r>
            <a:endParaRPr lang="en-US" sz="1400" dirty="0"/>
          </a:p>
          <a:p>
            <a:pPr algn="ctr" indent="0" marL="0">
              <a:buNone/>
            </a:pPr>
            <a:r>
              <a:rPr lang="en-US" sz="1400" b="1" dirty="0">
                <a:solidFill>
                  <a:schemeClr val="bg1"/>
                </a:solidFill>
              </a:rPr>
              <a:t>Steps 4 - 6</a:t>
            </a:r>
            <a:endParaRPr lang="en-US" sz="1400" dirty="0"/>
          </a:p>
        </p:txBody>
      </p:sp>
      <p:sp>
        <p:nvSpPr>
          <p:cNvPr id="17" name="step"/>
          <p:cNvSpPr/>
          <p:nvPr/>
        </p:nvSpPr>
        <p:spPr>
          <a:xfrm>
            <a:off x="2788920" y="2286000"/>
            <a:ext cx="2103120" cy="914400"/>
          </a:xfrm>
          <a:prstGeom prst="roundRect">
            <a:avLst>
              <a:gd name="adj" fmla="val 8000"/>
            </a:avLst>
          </a:prstGeom>
          <a:solidFill>
            <a:schemeClr val="bg2"/>
          </a:solidFill>
          <a:ln w="19050">
            <a:solidFill>
              <a:schemeClr val="accent1"/>
            </a:solidFill>
            <a:prstDash val="solid"/>
          </a:ln>
        </p:spPr>
      </p:sp>
      <p:sp>
        <p:nvSpPr>
          <p:cNvPr id="18" name="Text 16"/>
          <p:cNvSpPr txBox="1"/>
          <p:nvPr/>
        </p:nvSpPr>
        <p:spPr>
          <a:xfrm>
            <a:off x="2834640" y="228600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4. Word TF-IDF</a:t>
            </a:r>
            <a:endParaRPr lang="en-US" sz="1400" dirty="0"/>
          </a:p>
          <a:p>
            <a:pPr algn="ctr" indent="0" marL="0">
              <a:buNone/>
            </a:pPr>
            <a:r>
              <a:rPr lang="en-US" sz="1100" dirty="0">
                <a:solidFill>
                  <a:schemeClr val="tx1"/>
                </a:solidFill>
              </a:rPr>
              <a:t>10,000 word features</a:t>
            </a:r>
            <a:endParaRPr lang="en-US" sz="1400" dirty="0"/>
          </a:p>
        </p:txBody>
      </p:sp>
      <p:sp>
        <p:nvSpPr>
          <p:cNvPr id="19" name="arrow"/>
          <p:cNvSpPr/>
          <p:nvPr/>
        </p:nvSpPr>
        <p:spPr>
          <a:xfrm>
            <a:off x="3703320" y="3218688"/>
            <a:ext cx="274320" cy="274320"/>
          </a:xfrm>
          <a:prstGeom prst="downArrow">
            <a:avLst/>
          </a:prstGeom>
          <a:solidFill>
            <a:schemeClr val="accent1"/>
          </a:solidFill>
          <a:ln w="12700">
            <a:solidFill>
              <a:schemeClr val="accent1"/>
            </a:solidFill>
            <a:prstDash val="solid"/>
          </a:ln>
        </p:spPr>
      </p:sp>
      <p:sp>
        <p:nvSpPr>
          <p:cNvPr id="20" name="step"/>
          <p:cNvSpPr/>
          <p:nvPr/>
        </p:nvSpPr>
        <p:spPr>
          <a:xfrm>
            <a:off x="2788920" y="3520440"/>
            <a:ext cx="2103120" cy="914400"/>
          </a:xfrm>
          <a:prstGeom prst="roundRect">
            <a:avLst>
              <a:gd name="adj" fmla="val 8000"/>
            </a:avLst>
          </a:prstGeom>
          <a:solidFill>
            <a:schemeClr val="bg2"/>
          </a:solidFill>
          <a:ln w="19050">
            <a:solidFill>
              <a:schemeClr val="accent1"/>
            </a:solidFill>
            <a:prstDash val="solid"/>
          </a:ln>
        </p:spPr>
      </p:sp>
      <p:sp>
        <p:nvSpPr>
          <p:cNvPr id="21" name="Text 19"/>
          <p:cNvSpPr txBox="1"/>
          <p:nvPr/>
        </p:nvSpPr>
        <p:spPr>
          <a:xfrm>
            <a:off x="2834640" y="352044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5. Character TF-IDF</a:t>
            </a:r>
            <a:endParaRPr lang="en-US" sz="1400" dirty="0"/>
          </a:p>
          <a:p>
            <a:pPr algn="ctr" indent="0" marL="0">
              <a:buNone/>
            </a:pPr>
            <a:r>
              <a:rPr lang="en-US" sz="1100" dirty="0">
                <a:solidFill>
                  <a:schemeClr val="tx1"/>
                </a:solidFill>
              </a:rPr>
              <a:t>5,000 character features</a:t>
            </a:r>
            <a:endParaRPr lang="en-US" sz="1400" dirty="0"/>
          </a:p>
        </p:txBody>
      </p:sp>
      <p:sp>
        <p:nvSpPr>
          <p:cNvPr id="22" name="arrow"/>
          <p:cNvSpPr/>
          <p:nvPr/>
        </p:nvSpPr>
        <p:spPr>
          <a:xfrm>
            <a:off x="3703320" y="4453128"/>
            <a:ext cx="274320" cy="274320"/>
          </a:xfrm>
          <a:prstGeom prst="downArrow">
            <a:avLst/>
          </a:prstGeom>
          <a:solidFill>
            <a:schemeClr val="accent1"/>
          </a:solidFill>
          <a:ln w="12700">
            <a:solidFill>
              <a:schemeClr val="accent1"/>
            </a:solidFill>
            <a:prstDash val="solid"/>
          </a:ln>
        </p:spPr>
      </p:sp>
      <p:sp>
        <p:nvSpPr>
          <p:cNvPr id="23" name="step"/>
          <p:cNvSpPr/>
          <p:nvPr/>
        </p:nvSpPr>
        <p:spPr>
          <a:xfrm>
            <a:off x="2788920" y="4754880"/>
            <a:ext cx="2103120" cy="914400"/>
          </a:xfrm>
          <a:prstGeom prst="roundRect">
            <a:avLst>
              <a:gd name="adj" fmla="val 8000"/>
            </a:avLst>
          </a:prstGeom>
          <a:solidFill>
            <a:schemeClr val="bg2"/>
          </a:solidFill>
          <a:ln w="19050">
            <a:solidFill>
              <a:schemeClr val="accent1"/>
            </a:solidFill>
            <a:prstDash val="solid"/>
          </a:ln>
        </p:spPr>
      </p:sp>
      <p:sp>
        <p:nvSpPr>
          <p:cNvPr id="24" name="Text 22"/>
          <p:cNvSpPr txBox="1"/>
          <p:nvPr/>
        </p:nvSpPr>
        <p:spPr>
          <a:xfrm>
            <a:off x="2834640" y="475488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6. Feature Combination</a:t>
            </a:r>
            <a:endParaRPr lang="en-US" sz="1400" dirty="0"/>
          </a:p>
          <a:p>
            <a:pPr algn="ctr" indent="0" marL="0">
              <a:buNone/>
            </a:pPr>
            <a:r>
              <a:rPr lang="en-US" sz="1100" dirty="0">
                <a:solidFill>
                  <a:schemeClr val="tx1"/>
                </a:solidFill>
              </a:rPr>
              <a:t>15,000 features per tweet</a:t>
            </a:r>
            <a:endParaRPr lang="en-US" sz="1400" dirty="0"/>
          </a:p>
        </p:txBody>
      </p:sp>
      <p:sp>
        <p:nvSpPr>
          <p:cNvPr id="25" name="Text 23"/>
          <p:cNvSpPr txBox="1"/>
          <p:nvPr/>
        </p:nvSpPr>
        <p:spPr>
          <a:xfrm>
            <a:off x="4892040" y="1234440"/>
            <a:ext cx="182880" cy="6400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26" name="group"/>
          <p:cNvSpPr/>
          <p:nvPr/>
        </p:nvSpPr>
        <p:spPr>
          <a:xfrm>
            <a:off x="5074920" y="1188720"/>
            <a:ext cx="2103120" cy="731520"/>
          </a:xfrm>
          <a:prstGeom prst="roundRect">
            <a:avLst>
              <a:gd name="adj" fmla="val 10000"/>
            </a:avLst>
          </a:prstGeom>
          <a:solidFill>
            <a:schemeClr val="accent4"/>
          </a:solidFill>
          <a:ln w="12700">
            <a:solidFill>
              <a:schemeClr val="accent4"/>
            </a:solidFill>
            <a:prstDash val="solid"/>
          </a:ln>
        </p:spPr>
      </p:sp>
      <p:sp>
        <p:nvSpPr>
          <p:cNvPr id="27" name="Text 25"/>
          <p:cNvSpPr txBox="1"/>
          <p:nvPr/>
        </p:nvSpPr>
        <p:spPr>
          <a:xfrm>
            <a:off x="5074920" y="1188720"/>
            <a:ext cx="210312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MODEL</a:t>
            </a:r>
            <a:endParaRPr lang="en-US" sz="1400" dirty="0"/>
          </a:p>
          <a:p>
            <a:pPr algn="ctr" indent="0" marL="0">
              <a:buNone/>
            </a:pPr>
            <a:r>
              <a:rPr lang="en-US" sz="1400" b="1" dirty="0">
                <a:solidFill>
                  <a:schemeClr val="bg1"/>
                </a:solidFill>
              </a:rPr>
              <a:t>Steps 7 - 9</a:t>
            </a:r>
            <a:endParaRPr lang="en-US" sz="1400" dirty="0"/>
          </a:p>
        </p:txBody>
      </p:sp>
      <p:sp>
        <p:nvSpPr>
          <p:cNvPr id="28" name="step"/>
          <p:cNvSpPr/>
          <p:nvPr/>
        </p:nvSpPr>
        <p:spPr>
          <a:xfrm>
            <a:off x="5074920" y="2286000"/>
            <a:ext cx="2103120" cy="914400"/>
          </a:xfrm>
          <a:prstGeom prst="roundRect">
            <a:avLst>
              <a:gd name="adj" fmla="val 8000"/>
            </a:avLst>
          </a:prstGeom>
          <a:solidFill>
            <a:schemeClr val="bg2"/>
          </a:solidFill>
          <a:ln w="19050">
            <a:solidFill>
              <a:schemeClr val="accent4"/>
            </a:solidFill>
            <a:prstDash val="solid"/>
          </a:ln>
        </p:spPr>
      </p:sp>
      <p:sp>
        <p:nvSpPr>
          <p:cNvPr id="29" name="Text 27"/>
          <p:cNvSpPr txBox="1"/>
          <p:nvPr/>
        </p:nvSpPr>
        <p:spPr>
          <a:xfrm>
            <a:off x="5120640" y="228600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7. Train-Test Split</a:t>
            </a:r>
            <a:endParaRPr lang="en-US" sz="1400" dirty="0"/>
          </a:p>
          <a:p>
            <a:pPr algn="ctr" indent="0" marL="0">
              <a:buNone/>
            </a:pPr>
            <a:r>
              <a:rPr lang="en-US" sz="1100" dirty="0">
                <a:solidFill>
                  <a:schemeClr val="tx1"/>
                </a:solidFill>
              </a:rPr>
              <a:t>80% train / 20% test</a:t>
            </a:r>
            <a:endParaRPr lang="en-US" sz="1400" dirty="0"/>
          </a:p>
        </p:txBody>
      </p:sp>
      <p:sp>
        <p:nvSpPr>
          <p:cNvPr id="30" name="arrow"/>
          <p:cNvSpPr/>
          <p:nvPr/>
        </p:nvSpPr>
        <p:spPr>
          <a:xfrm>
            <a:off x="5989320" y="3218688"/>
            <a:ext cx="274320" cy="274320"/>
          </a:xfrm>
          <a:prstGeom prst="downArrow">
            <a:avLst/>
          </a:prstGeom>
          <a:solidFill>
            <a:schemeClr val="accent4"/>
          </a:solidFill>
          <a:ln w="12700">
            <a:solidFill>
              <a:schemeClr val="accent4"/>
            </a:solidFill>
            <a:prstDash val="solid"/>
          </a:ln>
        </p:spPr>
      </p:sp>
      <p:sp>
        <p:nvSpPr>
          <p:cNvPr id="31" name="step"/>
          <p:cNvSpPr/>
          <p:nvPr/>
        </p:nvSpPr>
        <p:spPr>
          <a:xfrm>
            <a:off x="5074920" y="3520440"/>
            <a:ext cx="2103120" cy="914400"/>
          </a:xfrm>
          <a:prstGeom prst="roundRect">
            <a:avLst>
              <a:gd name="adj" fmla="val 8000"/>
            </a:avLst>
          </a:prstGeom>
          <a:solidFill>
            <a:schemeClr val="bg2"/>
          </a:solidFill>
          <a:ln w="19050">
            <a:solidFill>
              <a:schemeClr val="accent4"/>
            </a:solidFill>
            <a:prstDash val="solid"/>
          </a:ln>
        </p:spPr>
      </p:sp>
      <p:sp>
        <p:nvSpPr>
          <p:cNvPr id="32" name="Text 30"/>
          <p:cNvSpPr txBox="1"/>
          <p:nvPr/>
        </p:nvSpPr>
        <p:spPr>
          <a:xfrm>
            <a:off x="5120640" y="352044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8. Random Forest</a:t>
            </a:r>
            <a:endParaRPr lang="en-US" sz="1400" dirty="0"/>
          </a:p>
          <a:p>
            <a:pPr algn="ctr" indent="0" marL="0">
              <a:buNone/>
            </a:pPr>
            <a:r>
              <a:rPr lang="en-US" sz="1100" dirty="0">
                <a:solidFill>
                  <a:schemeClr val="tx1"/>
                </a:solidFill>
              </a:rPr>
              <a:t>100 trees, majority vote</a:t>
            </a:r>
            <a:endParaRPr lang="en-US" sz="1400" dirty="0"/>
          </a:p>
        </p:txBody>
      </p:sp>
      <p:sp>
        <p:nvSpPr>
          <p:cNvPr id="33" name="arrow"/>
          <p:cNvSpPr/>
          <p:nvPr/>
        </p:nvSpPr>
        <p:spPr>
          <a:xfrm>
            <a:off x="5989320" y="4453128"/>
            <a:ext cx="274320" cy="274320"/>
          </a:xfrm>
          <a:prstGeom prst="downArrow">
            <a:avLst/>
          </a:prstGeom>
          <a:solidFill>
            <a:schemeClr val="accent4"/>
          </a:solidFill>
          <a:ln w="12700">
            <a:solidFill>
              <a:schemeClr val="accent4"/>
            </a:solidFill>
            <a:prstDash val="solid"/>
          </a:ln>
        </p:spPr>
      </p:sp>
      <p:sp>
        <p:nvSpPr>
          <p:cNvPr id="34" name="step"/>
          <p:cNvSpPr/>
          <p:nvPr/>
        </p:nvSpPr>
        <p:spPr>
          <a:xfrm>
            <a:off x="5074920" y="4754880"/>
            <a:ext cx="2103120" cy="914400"/>
          </a:xfrm>
          <a:prstGeom prst="roundRect">
            <a:avLst>
              <a:gd name="adj" fmla="val 8000"/>
            </a:avLst>
          </a:prstGeom>
          <a:solidFill>
            <a:schemeClr val="bg2"/>
          </a:solidFill>
          <a:ln w="19050">
            <a:solidFill>
              <a:schemeClr val="accent4"/>
            </a:solidFill>
            <a:prstDash val="solid"/>
          </a:ln>
        </p:spPr>
      </p:sp>
      <p:sp>
        <p:nvSpPr>
          <p:cNvPr id="35" name="Text 33"/>
          <p:cNvSpPr txBox="1"/>
          <p:nvPr/>
        </p:nvSpPr>
        <p:spPr>
          <a:xfrm>
            <a:off x="5120640" y="475488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9. Model Prediction</a:t>
            </a:r>
            <a:endParaRPr lang="en-US" sz="1400" dirty="0"/>
          </a:p>
          <a:p>
            <a:pPr algn="ctr" indent="0" marL="0">
              <a:buNone/>
            </a:pPr>
            <a:r>
              <a:rPr lang="en-US" sz="1100" dirty="0">
                <a:solidFill>
                  <a:schemeClr val="tx1"/>
                </a:solidFill>
              </a:rPr>
              <a:t>class chosen by the forest</a:t>
            </a:r>
            <a:endParaRPr lang="en-US" sz="1400" dirty="0"/>
          </a:p>
        </p:txBody>
      </p:sp>
      <p:sp>
        <p:nvSpPr>
          <p:cNvPr id="36" name="Text 34"/>
          <p:cNvSpPr txBox="1"/>
          <p:nvPr/>
        </p:nvSpPr>
        <p:spPr>
          <a:xfrm>
            <a:off x="7178040" y="1234440"/>
            <a:ext cx="182880" cy="6400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37" name="group"/>
          <p:cNvSpPr/>
          <p:nvPr/>
        </p:nvSpPr>
        <p:spPr>
          <a:xfrm>
            <a:off x="7360920" y="1188720"/>
            <a:ext cx="2103120" cy="731520"/>
          </a:xfrm>
          <a:prstGeom prst="roundRect">
            <a:avLst>
              <a:gd name="adj" fmla="val 10000"/>
            </a:avLst>
          </a:prstGeom>
          <a:solidFill>
            <a:schemeClr val="accent3"/>
          </a:solidFill>
          <a:ln w="12700">
            <a:solidFill>
              <a:schemeClr val="accent3"/>
            </a:solidFill>
            <a:prstDash val="solid"/>
          </a:ln>
        </p:spPr>
      </p:sp>
      <p:sp>
        <p:nvSpPr>
          <p:cNvPr id="38" name="Text 36"/>
          <p:cNvSpPr txBox="1"/>
          <p:nvPr/>
        </p:nvSpPr>
        <p:spPr>
          <a:xfrm>
            <a:off x="7360920" y="1188720"/>
            <a:ext cx="210312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OUTPUT</a:t>
            </a:r>
            <a:endParaRPr lang="en-US" sz="1400" dirty="0"/>
          </a:p>
          <a:p>
            <a:pPr algn="ctr" indent="0" marL="0">
              <a:buNone/>
            </a:pPr>
            <a:r>
              <a:rPr lang="en-US" sz="1400" b="1" dirty="0">
                <a:solidFill>
                  <a:schemeClr val="bg1"/>
                </a:solidFill>
              </a:rPr>
              <a:t>Steps 10 - 11</a:t>
            </a:r>
            <a:endParaRPr lang="en-US" sz="1400" dirty="0"/>
          </a:p>
        </p:txBody>
      </p:sp>
      <p:sp>
        <p:nvSpPr>
          <p:cNvPr id="39" name="step"/>
          <p:cNvSpPr/>
          <p:nvPr/>
        </p:nvSpPr>
        <p:spPr>
          <a:xfrm>
            <a:off x="7360920" y="2286000"/>
            <a:ext cx="2103120" cy="914400"/>
          </a:xfrm>
          <a:prstGeom prst="roundRect">
            <a:avLst>
              <a:gd name="adj" fmla="val 8000"/>
            </a:avLst>
          </a:prstGeom>
          <a:solidFill>
            <a:schemeClr val="bg2"/>
          </a:solidFill>
          <a:ln w="19050">
            <a:solidFill>
              <a:schemeClr val="accent3"/>
            </a:solidFill>
            <a:prstDash val="solid"/>
          </a:ln>
        </p:spPr>
      </p:sp>
      <p:sp>
        <p:nvSpPr>
          <p:cNvPr id="40" name="Text 38"/>
          <p:cNvSpPr txBox="1"/>
          <p:nvPr/>
        </p:nvSpPr>
        <p:spPr>
          <a:xfrm>
            <a:off x="7406640" y="228600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10. Hybrid Rule Analysis</a:t>
            </a:r>
            <a:endParaRPr lang="en-US" sz="1400" dirty="0"/>
          </a:p>
          <a:p>
            <a:pPr algn="ctr" indent="0" marL="0">
              <a:buNone/>
            </a:pPr>
            <a:r>
              <a:rPr lang="en-US" sz="1100" dirty="0">
                <a:solidFill>
                  <a:schemeClr val="tx1"/>
                </a:solidFill>
              </a:rPr>
              <a:t>rules confirm or adjust the label</a:t>
            </a:r>
            <a:endParaRPr lang="en-US" sz="1400" dirty="0"/>
          </a:p>
        </p:txBody>
      </p:sp>
      <p:sp>
        <p:nvSpPr>
          <p:cNvPr id="41" name="arrow"/>
          <p:cNvSpPr/>
          <p:nvPr/>
        </p:nvSpPr>
        <p:spPr>
          <a:xfrm>
            <a:off x="8275320" y="3218688"/>
            <a:ext cx="274320" cy="274320"/>
          </a:xfrm>
          <a:prstGeom prst="downArrow">
            <a:avLst/>
          </a:prstGeom>
          <a:solidFill>
            <a:schemeClr val="accent3"/>
          </a:solidFill>
          <a:ln w="12700">
            <a:solidFill>
              <a:schemeClr val="accent3"/>
            </a:solidFill>
            <a:prstDash val="solid"/>
          </a:ln>
        </p:spPr>
      </p:sp>
      <p:sp>
        <p:nvSpPr>
          <p:cNvPr id="42" name="step"/>
          <p:cNvSpPr/>
          <p:nvPr/>
        </p:nvSpPr>
        <p:spPr>
          <a:xfrm>
            <a:off x="7360920" y="3520440"/>
            <a:ext cx="2103120" cy="914400"/>
          </a:xfrm>
          <a:prstGeom prst="roundRect">
            <a:avLst>
              <a:gd name="adj" fmla="val 8000"/>
            </a:avLst>
          </a:prstGeom>
          <a:solidFill>
            <a:schemeClr val="bg2"/>
          </a:solidFill>
          <a:ln w="19050">
            <a:solidFill>
              <a:schemeClr val="accent3"/>
            </a:solidFill>
            <a:prstDash val="solid"/>
          </a:ln>
        </p:spPr>
      </p:sp>
      <p:sp>
        <p:nvSpPr>
          <p:cNvPr id="43" name="Text 41"/>
          <p:cNvSpPr txBox="1"/>
          <p:nvPr/>
        </p:nvSpPr>
        <p:spPr>
          <a:xfrm>
            <a:off x="7406640" y="3520440"/>
            <a:ext cx="2011680" cy="914400"/>
          </a:xfrm>
          <a:prstGeom prst="rect">
            <a:avLst/>
          </a:prstGeom>
          <a:noFill/>
          <a:ln/>
        </p:spPr>
        <p:txBody>
          <a:bodyPr wrap="square" lIns="635" tIns="635" rIns="635" bIns="635" rtlCol="0" anchor="ctr"/>
          <a:lstStyle/>
          <a:p>
            <a:pPr algn="ctr" indent="0" marL="0">
              <a:buNone/>
            </a:pPr>
            <a:r>
              <a:rPr lang="en-US" sz="1400" b="1" dirty="0">
                <a:solidFill>
                  <a:schemeClr val="tx2"/>
                </a:solidFill>
              </a:rPr>
              <a:t>11. Final Sentiment</a:t>
            </a:r>
            <a:endParaRPr lang="en-US" sz="1400" dirty="0"/>
          </a:p>
          <a:p>
            <a:pPr algn="ctr" indent="0" marL="0">
              <a:buNone/>
            </a:pPr>
            <a:r>
              <a:rPr lang="en-US" sz="1100" dirty="0">
                <a:solidFill>
                  <a:schemeClr val="tx1"/>
                </a:solidFill>
              </a:rPr>
              <a:t>Positive | Negative | Neutral</a:t>
            </a:r>
            <a:endParaRPr lang="en-US" sz="1400" dirty="0"/>
          </a:p>
        </p:txBody>
      </p:sp>
      <p:sp>
        <p:nvSpPr>
          <p:cNvPr id="44" name="Text 42"/>
          <p:cNvSpPr txBox="1"/>
          <p:nvPr/>
        </p:nvSpPr>
        <p:spPr>
          <a:xfrm>
            <a:off x="640080" y="6400800"/>
            <a:ext cx="8778240" cy="457200"/>
          </a:xfrm>
          <a:prstGeom prst="rect">
            <a:avLst/>
          </a:prstGeom>
          <a:noFill/>
          <a:ln/>
        </p:spPr>
        <p:txBody>
          <a:bodyPr wrap="square" lIns="635" tIns="635" rIns="635" bIns="635" rtlCol="0" anchor="t"/>
          <a:lstStyle/>
          <a:p>
            <a:pPr algn="ctr" indent="0" marL="0">
              <a:buNone/>
            </a:pPr>
            <a:r>
              <a:rPr lang="en-US" sz="1400" i="1" dirty="0">
                <a:solidFill>
                  <a:schemeClr val="tx2"/>
                </a:solidFill>
              </a:rPr>
              <a:t>Steps 1–8 build and save the model; steps 9–11 are repeated for every text entered by a user.</a:t>
            </a:r>
            <a:endParaRPr lang="en-US" sz="14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DATASET</a:t>
            </a:r>
            <a:endParaRPr lang="en-US" sz="1600" dirty="0"/>
          </a:p>
        </p:txBody>
      </p:sp>
      <p:pic>
        <p:nvPicPr>
          <p:cNvPr id="4" name="dataset screenshot" descr="a/dataset.jpeg">    </p:cNvPr>
          <p:cNvPicPr>
            <a:picLocks noChangeAspect="1"/>
          </p:cNvPicPr>
          <p:nvPr/>
        </p:nvPicPr>
        <p:blipFill>
          <a:blip r:embed="rId1"/>
          <a:stretch>
            <a:fillRect/>
          </a:stretch>
        </p:blipFill>
        <p:spPr>
          <a:xfrm>
            <a:off x="548640" y="960120"/>
            <a:ext cx="8961120" cy="3035808"/>
          </a:xfrm>
          <a:prstGeom prst="rect">
            <a:avLst/>
          </a:prstGeom>
        </p:spPr>
      </p:pic>
      <p:sp>
        <p:nvSpPr>
          <p:cNvPr id="5" name="Text 2"/>
          <p:cNvSpPr txBox="1"/>
          <p:nvPr/>
        </p:nvSpPr>
        <p:spPr>
          <a:xfrm>
            <a:off x="548640" y="4114800"/>
            <a:ext cx="4206240" cy="1737360"/>
          </a:xfrm>
          <a:prstGeom prst="rect">
            <a:avLst/>
          </a:prstGeom>
          <a:noFill/>
          <a:ln/>
        </p:spPr>
        <p:txBody>
          <a:bodyPr wrap="square" lIns="635" tIns="635" rIns="635" bIns="635" rtlCol="0" anchor="t"/>
          <a:lstStyle/>
          <a:p>
            <a:pPr indent="0" marL="0">
              <a:spcAft>
                <a:spcPts val="400"/>
              </a:spcAft>
              <a:buNone/>
            </a:pPr>
            <a:r>
              <a:rPr lang="en-US" sz="1400" b="1" dirty="0">
                <a:solidFill>
                  <a:schemeClr val="tx1"/>
                </a:solidFill>
              </a:rPr>
              <a:t>Dataset: </a:t>
            </a:r>
            <a:pPr indent="0" marL="0">
              <a:spcAft>
                <a:spcPts val="400"/>
              </a:spcAft>
              <a:buNone/>
            </a:pPr>
            <a:r>
              <a:rPr lang="en-US" sz="1400" dirty="0">
                <a:solidFill>
                  <a:schemeClr val="tx1"/>
                </a:solidFill>
              </a:rPr>
              <a:t>Twitter Entity Sentiment Analysis
</a:t>
            </a:r>
            <a:pPr indent="0" marL="0">
              <a:spcAft>
                <a:spcPts val="400"/>
              </a:spcAft>
              <a:buNone/>
            </a:pPr>
            <a:r>
              <a:rPr lang="en-US" sz="1400" b="1" dirty="0">
                <a:solidFill>
                  <a:schemeClr val="tx1"/>
                </a:solidFill>
              </a:rPr>
              <a:t>Source: </a:t>
            </a:r>
            <a:pPr indent="0" marL="0">
              <a:spcAft>
                <a:spcPts val="400"/>
              </a:spcAft>
              <a:buNone/>
            </a:pPr>
            <a:r>
              <a:rPr lang="en-US" sz="1400" dirty="0">
                <a:solidFill>
                  <a:schemeClr val="tx1"/>
                </a:solidFill>
              </a:rPr>
              <a:t>Kaggle
</a:t>
            </a:r>
            <a:pPr indent="0" marL="0">
              <a:spcAft>
                <a:spcPts val="400"/>
              </a:spcAft>
              <a:buNone/>
            </a:pPr>
            <a:r>
              <a:rPr lang="en-US" sz="1400" b="1" dirty="0">
                <a:solidFill>
                  <a:schemeClr val="tx1"/>
                </a:solidFill>
              </a:rPr>
              <a:t>Records: </a:t>
            </a:r>
            <a:pPr indent="0" marL="0">
              <a:spcAft>
                <a:spcPts val="400"/>
              </a:spcAft>
              <a:buNone/>
            </a:pPr>
            <a:r>
              <a:rPr lang="en-US" sz="1400" dirty="0">
                <a:solidFill>
                  <a:schemeClr val="tx1"/>
                </a:solidFill>
              </a:rPr>
              <a:t>74,682  →  61,121 after cleaning
</a:t>
            </a:r>
            <a:pPr indent="0" marL="0">
              <a:spcAft>
                <a:spcPts val="400"/>
              </a:spcAft>
              <a:buNone/>
            </a:pPr>
            <a:r>
              <a:rPr lang="en-US" sz="1400" b="1" dirty="0">
                <a:solidFill>
                  <a:schemeClr val="tx1"/>
                </a:solidFill>
              </a:rPr>
              <a:t>Fields: </a:t>
            </a:r>
            <a:pPr indent="0" marL="0">
              <a:spcAft>
                <a:spcPts val="400"/>
              </a:spcAft>
              <a:buNone/>
            </a:pPr>
            <a:r>
              <a:rPr lang="en-US" sz="1400" dirty="0">
                <a:solidFill>
                  <a:schemeClr val="tx1"/>
                </a:solidFill>
              </a:rPr>
              <a:t>Tweet ID, Entity, Sentiment, Tweet
</a:t>
            </a:r>
            <a:pPr indent="0" marL="0">
              <a:spcAft>
                <a:spcPts val="400"/>
              </a:spcAft>
              <a:buNone/>
            </a:pPr>
            <a:r>
              <a:rPr lang="en-US" sz="1400" b="1" dirty="0">
                <a:solidFill>
                  <a:schemeClr val="tx1"/>
                </a:solidFill>
              </a:rPr>
              <a:t>Classes: </a:t>
            </a:r>
            <a:pPr indent="0" marL="0">
              <a:spcAft>
                <a:spcPts val="400"/>
              </a:spcAft>
              <a:buNone/>
            </a:pPr>
            <a:r>
              <a:rPr lang="en-US" sz="1400" dirty="0">
                <a:solidFill>
                  <a:schemeClr val="tx1"/>
                </a:solidFill>
              </a:rPr>
              <a:t>Positive, Negative, Neutral</a:t>
            </a:r>
            <a:endParaRPr lang="en-US" sz="1400" dirty="0"/>
          </a:p>
        </p:txBody>
      </p:sp>
      <p:sp>
        <p:nvSpPr>
          <p:cNvPr id="6" name="Text 3"/>
          <p:cNvSpPr txBox="1"/>
          <p:nvPr/>
        </p:nvSpPr>
        <p:spPr>
          <a:xfrm>
            <a:off x="548640" y="5806440"/>
            <a:ext cx="4206240" cy="1371600"/>
          </a:xfrm>
          <a:prstGeom prst="rect">
            <a:avLst/>
          </a:prstGeom>
          <a:noFill/>
          <a:ln/>
        </p:spPr>
        <p:txBody>
          <a:bodyPr wrap="square" lIns="635" tIns="635" rIns="635" bIns="635" rtlCol="0" anchor="t"/>
          <a:lstStyle/>
          <a:p>
            <a:pPr indent="0" marL="0">
              <a:buNone/>
            </a:pPr>
            <a:r>
              <a:rPr lang="en-US" sz="1300" b="1" dirty="0">
                <a:solidFill>
                  <a:schemeClr val="accent4"/>
                </a:solidFill>
              </a:rPr>
              <a:t>Data observations (sample rows)</a:t>
            </a:r>
            <a:endParaRPr lang="en-US" sz="1300" dirty="0"/>
          </a:p>
          <a:p>
            <a:pPr indent="0" marL="0">
              <a:buNone/>
            </a:pPr>
            <a:r>
              <a:rPr lang="en-US" sz="1200" dirty="0">
                <a:solidFill>
                  <a:schemeClr val="tx1"/>
                </a:solidFill>
              </a:rPr>
              <a:t>• Rows share one Tweet ID with near-duplicate wording</a:t>
            </a:r>
            <a:endParaRPr lang="en-US" sz="1300" dirty="0"/>
          </a:p>
          <a:p>
            <a:pPr indent="0" marL="0">
              <a:buNone/>
            </a:pPr>
            <a:r>
              <a:rPr lang="en-US" sz="1200" dirty="0">
                <a:solidFill>
                  <a:schemeClr val="tx1"/>
                </a:solidFill>
              </a:rPr>
              <a:t>• Some labels look questionable for the text</a:t>
            </a:r>
            <a:endParaRPr lang="en-US" sz="1300" dirty="0"/>
          </a:p>
          <a:p>
            <a:pPr indent="0" marL="0">
              <a:buNone/>
            </a:pPr>
            <a:r>
              <a:rPr lang="en-US" sz="1200" dirty="0">
                <a:solidFill>
                  <a:schemeClr val="tx1"/>
                </a:solidFill>
              </a:rPr>
              <a:t>• Classes are fairly balanced (36.6% / 33.8% / 29.6%)</a:t>
            </a:r>
            <a:endParaRPr lang="en-US" sz="1300" dirty="0"/>
          </a:p>
        </p:txBody>
      </p:sp>
      <p:graphicFrame>
        <p:nvGraphicFramePr>
          <p:cNvPr id="7" name="Chart 0" descr=""/>
          <p:cNvGraphicFramePr/>
          <p:nvPr/>
        </p:nvGraphicFramePr>
        <p:xfrm>
          <a:off x="4846320" y="4069080"/>
          <a:ext cx="4663440" cy="30175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DATA PROCESSING</a:t>
            </a:r>
            <a:endParaRPr lang="en-US" sz="1600" dirty="0"/>
          </a:p>
        </p:txBody>
      </p:sp>
      <p:sp>
        <p:nvSpPr>
          <p:cNvPr id="4" name="Text 2"/>
          <p:cNvSpPr txBox="1"/>
          <p:nvPr/>
        </p:nvSpPr>
        <p:spPr>
          <a:xfrm>
            <a:off x="548640" y="960120"/>
            <a:ext cx="3657600" cy="320040"/>
          </a:xfrm>
          <a:prstGeom prst="rect">
            <a:avLst/>
          </a:prstGeom>
          <a:noFill/>
          <a:ln/>
        </p:spPr>
        <p:txBody>
          <a:bodyPr wrap="square" lIns="635" tIns="635" rIns="635" bIns="635" rtlCol="0" anchor="t"/>
          <a:lstStyle/>
          <a:p>
            <a:pPr indent="0" marL="0">
              <a:buNone/>
            </a:pPr>
            <a:r>
              <a:rPr lang="en-US" sz="1300" b="1" dirty="0">
                <a:solidFill>
                  <a:schemeClr val="accent1"/>
                </a:solidFill>
              </a:rPr>
              <a:t>PROCESSING STEP</a:t>
            </a:r>
            <a:endParaRPr lang="en-US" sz="1300" dirty="0"/>
          </a:p>
        </p:txBody>
      </p:sp>
      <p:sp>
        <p:nvSpPr>
          <p:cNvPr id="5" name="Text 3"/>
          <p:cNvSpPr txBox="1"/>
          <p:nvPr/>
        </p:nvSpPr>
        <p:spPr>
          <a:xfrm>
            <a:off x="4389120" y="960120"/>
            <a:ext cx="5029200" cy="320040"/>
          </a:xfrm>
          <a:prstGeom prst="rect">
            <a:avLst/>
          </a:prstGeom>
          <a:noFill/>
          <a:ln/>
        </p:spPr>
        <p:txBody>
          <a:bodyPr wrap="square" lIns="635" tIns="635" rIns="635" bIns="635" rtlCol="0" anchor="t"/>
          <a:lstStyle/>
          <a:p>
            <a:pPr indent="0" marL="0">
              <a:buNone/>
            </a:pPr>
            <a:r>
              <a:rPr lang="en-US" sz="1300" b="1" dirty="0">
                <a:solidFill>
                  <a:schemeClr val="accent1"/>
                </a:solidFill>
              </a:rPr>
              <a:t>EXAMPLE (tweet after each step)</a:t>
            </a:r>
            <a:endParaRPr lang="en-US" sz="1300" dirty="0"/>
          </a:p>
        </p:txBody>
      </p:sp>
      <p:sp>
        <p:nvSpPr>
          <p:cNvPr id="6" name="step"/>
          <p:cNvSpPr/>
          <p:nvPr/>
        </p:nvSpPr>
        <p:spPr>
          <a:xfrm>
            <a:off x="548640" y="1371600"/>
            <a:ext cx="3657600" cy="457200"/>
          </a:xfrm>
          <a:prstGeom prst="roundRect">
            <a:avLst>
              <a:gd name="adj" fmla="val 12000"/>
            </a:avLst>
          </a:prstGeom>
          <a:solidFill>
            <a:schemeClr val="tx1"/>
          </a:solidFill>
          <a:ln w="12700">
            <a:solidFill>
              <a:schemeClr val="tx1"/>
            </a:solidFill>
            <a:prstDash val="solid"/>
          </a:ln>
        </p:spPr>
      </p:sp>
      <p:sp>
        <p:nvSpPr>
          <p:cNvPr id="7" name="Text 5"/>
          <p:cNvSpPr txBox="1"/>
          <p:nvPr/>
        </p:nvSpPr>
        <p:spPr>
          <a:xfrm>
            <a:off x="548640" y="1371600"/>
            <a:ext cx="3657600" cy="457200"/>
          </a:xfrm>
          <a:prstGeom prst="rect">
            <a:avLst/>
          </a:prstGeom>
          <a:noFill/>
          <a:ln/>
        </p:spPr>
        <p:txBody>
          <a:bodyPr wrap="square" lIns="1524" tIns="1524" rIns="1524" bIns="1524" rtlCol="0" anchor="ctr"/>
          <a:lstStyle/>
          <a:p>
            <a:pPr indent="0" marL="0">
              <a:buNone/>
            </a:pPr>
            <a:r>
              <a:rPr lang="en-US" sz="1300" b="1" dirty="0">
                <a:solidFill>
                  <a:schemeClr val="bg1"/>
                </a:solidFill>
              </a:rPr>
              <a:t>Input tweet</a:t>
            </a:r>
            <a:endParaRPr lang="en-US" sz="1300" dirty="0"/>
          </a:p>
        </p:txBody>
      </p:sp>
      <p:sp>
        <p:nvSpPr>
          <p:cNvPr id="8" name="example"/>
          <p:cNvSpPr/>
          <p:nvPr/>
        </p:nvSpPr>
        <p:spPr>
          <a:xfrm>
            <a:off x="4389120" y="1371600"/>
            <a:ext cx="5120640" cy="457200"/>
          </a:xfrm>
          <a:prstGeom prst="roundRect">
            <a:avLst>
              <a:gd name="adj" fmla="val 16000"/>
            </a:avLst>
          </a:prstGeom>
          <a:solidFill>
            <a:schemeClr val="bg2"/>
          </a:solidFill>
          <a:ln w="12700">
            <a:solidFill>
              <a:srgbClr val="CCCCCC"/>
            </a:solidFill>
            <a:prstDash val="solid"/>
          </a:ln>
        </p:spPr>
      </p:sp>
      <p:sp>
        <p:nvSpPr>
          <p:cNvPr id="9" name="Text 7"/>
          <p:cNvSpPr txBox="1"/>
          <p:nvPr/>
        </p:nvSpPr>
        <p:spPr>
          <a:xfrm>
            <a:off x="4389120" y="1371600"/>
            <a:ext cx="5120640" cy="457200"/>
          </a:xfrm>
          <a:prstGeom prst="rect">
            <a:avLst/>
          </a:prstGeom>
          <a:noFill/>
          <a:ln/>
        </p:spPr>
        <p:txBody>
          <a:bodyPr wrap="square" lIns="1524" tIns="1524" rIns="1524" bIns="1524"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  LOVE this GAME!!  @Xbox  https://t.co/a1b2</a:t>
            </a:r>
            <a:endParaRPr lang="en-US" sz="1300" dirty="0"/>
          </a:p>
        </p:txBody>
      </p:sp>
      <p:sp>
        <p:nvSpPr>
          <p:cNvPr id="10" name="step"/>
          <p:cNvSpPr/>
          <p:nvPr/>
        </p:nvSpPr>
        <p:spPr>
          <a:xfrm>
            <a:off x="548640" y="1938528"/>
            <a:ext cx="3657600" cy="457200"/>
          </a:xfrm>
          <a:prstGeom prst="roundRect">
            <a:avLst>
              <a:gd name="adj" fmla="val 12000"/>
            </a:avLst>
          </a:prstGeom>
          <a:solidFill>
            <a:schemeClr val="accent2"/>
          </a:solidFill>
          <a:ln w="12700">
            <a:solidFill>
              <a:schemeClr val="accent2"/>
            </a:solidFill>
            <a:prstDash val="solid"/>
          </a:ln>
        </p:spPr>
      </p:sp>
      <p:sp>
        <p:nvSpPr>
          <p:cNvPr id="11" name="Text 9"/>
          <p:cNvSpPr txBox="1"/>
          <p:nvPr/>
        </p:nvSpPr>
        <p:spPr>
          <a:xfrm>
            <a:off x="548640" y="1938528"/>
            <a:ext cx="3657600" cy="457200"/>
          </a:xfrm>
          <a:prstGeom prst="rect">
            <a:avLst/>
          </a:prstGeom>
          <a:noFill/>
          <a:ln/>
        </p:spPr>
        <p:txBody>
          <a:bodyPr wrap="square" lIns="1524" tIns="1524" rIns="1524" bIns="1524" rtlCol="0" anchor="ctr"/>
          <a:lstStyle/>
          <a:p>
            <a:pPr indent="0" marL="0">
              <a:buNone/>
            </a:pPr>
            <a:r>
              <a:rPr lang="en-US" sz="1300" b="1" dirty="0">
                <a:solidFill>
                  <a:schemeClr val="bg1"/>
                </a:solidFill>
              </a:rPr>
              <a:t>1. Remove missing tweets</a:t>
            </a:r>
            <a:endParaRPr lang="en-US" sz="1300" dirty="0"/>
          </a:p>
        </p:txBody>
      </p:sp>
      <p:sp>
        <p:nvSpPr>
          <p:cNvPr id="12" name="example"/>
          <p:cNvSpPr/>
          <p:nvPr/>
        </p:nvSpPr>
        <p:spPr>
          <a:xfrm>
            <a:off x="4389120" y="1938528"/>
            <a:ext cx="5120640" cy="457200"/>
          </a:xfrm>
          <a:prstGeom prst="roundRect">
            <a:avLst>
              <a:gd name="adj" fmla="val 16000"/>
            </a:avLst>
          </a:prstGeom>
          <a:solidFill>
            <a:schemeClr val="bg2"/>
          </a:solidFill>
          <a:ln w="12700">
            <a:solidFill>
              <a:srgbClr val="CCCCCC"/>
            </a:solidFill>
            <a:prstDash val="solid"/>
          </a:ln>
        </p:spPr>
      </p:sp>
      <p:sp>
        <p:nvSpPr>
          <p:cNvPr id="13" name="Text 11"/>
          <p:cNvSpPr txBox="1"/>
          <p:nvPr/>
        </p:nvSpPr>
        <p:spPr>
          <a:xfrm>
            <a:off x="4389120" y="1938528"/>
            <a:ext cx="5120640" cy="457200"/>
          </a:xfrm>
          <a:prstGeom prst="rect">
            <a:avLst/>
          </a:prstGeom>
          <a:noFill/>
          <a:ln/>
        </p:spPr>
        <p:txBody>
          <a:bodyPr wrap="square" lIns="1524" tIns="1524" rIns="1524" bIns="1524"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(rows without tweet text are dropped)</a:t>
            </a:r>
            <a:endParaRPr lang="en-US" sz="1300" dirty="0"/>
          </a:p>
        </p:txBody>
      </p:sp>
      <p:sp>
        <p:nvSpPr>
          <p:cNvPr id="14" name="step"/>
          <p:cNvSpPr/>
          <p:nvPr/>
        </p:nvSpPr>
        <p:spPr>
          <a:xfrm>
            <a:off x="548640" y="2505456"/>
            <a:ext cx="3657600" cy="457200"/>
          </a:xfrm>
          <a:prstGeom prst="roundRect">
            <a:avLst>
              <a:gd name="adj" fmla="val 12000"/>
            </a:avLst>
          </a:prstGeom>
          <a:solidFill>
            <a:schemeClr val="accent1"/>
          </a:solidFill>
          <a:ln w="12700">
            <a:solidFill>
              <a:schemeClr val="accent1"/>
            </a:solidFill>
            <a:prstDash val="solid"/>
          </a:ln>
        </p:spPr>
      </p:sp>
      <p:sp>
        <p:nvSpPr>
          <p:cNvPr id="15" name="Text 13"/>
          <p:cNvSpPr txBox="1"/>
          <p:nvPr/>
        </p:nvSpPr>
        <p:spPr>
          <a:xfrm>
            <a:off x="548640" y="2505456"/>
            <a:ext cx="3657600" cy="457200"/>
          </a:xfrm>
          <a:prstGeom prst="rect">
            <a:avLst/>
          </a:prstGeom>
          <a:noFill/>
          <a:ln/>
        </p:spPr>
        <p:txBody>
          <a:bodyPr wrap="square" lIns="1524" tIns="1524" rIns="1524" bIns="1524" rtlCol="0" anchor="ctr"/>
          <a:lstStyle/>
          <a:p>
            <a:pPr indent="0" marL="0">
              <a:buNone/>
            </a:pPr>
            <a:r>
              <a:rPr lang="en-US" sz="1300" b="1" dirty="0">
                <a:solidFill>
                  <a:schemeClr val="bg1"/>
                </a:solidFill>
              </a:rPr>
              <a:t>2. Convert to lowercase</a:t>
            </a:r>
            <a:endParaRPr lang="en-US" sz="1300" dirty="0"/>
          </a:p>
        </p:txBody>
      </p:sp>
      <p:sp>
        <p:nvSpPr>
          <p:cNvPr id="16" name="example"/>
          <p:cNvSpPr/>
          <p:nvPr/>
        </p:nvSpPr>
        <p:spPr>
          <a:xfrm>
            <a:off x="4389120" y="2505456"/>
            <a:ext cx="5120640" cy="457200"/>
          </a:xfrm>
          <a:prstGeom prst="roundRect">
            <a:avLst>
              <a:gd name="adj" fmla="val 16000"/>
            </a:avLst>
          </a:prstGeom>
          <a:solidFill>
            <a:schemeClr val="bg2"/>
          </a:solidFill>
          <a:ln w="12700">
            <a:solidFill>
              <a:srgbClr val="CCCCCC"/>
            </a:solidFill>
            <a:prstDash val="solid"/>
          </a:ln>
        </p:spPr>
      </p:sp>
      <p:sp>
        <p:nvSpPr>
          <p:cNvPr id="17" name="Text 15"/>
          <p:cNvSpPr txBox="1"/>
          <p:nvPr/>
        </p:nvSpPr>
        <p:spPr>
          <a:xfrm>
            <a:off x="4389120" y="2505456"/>
            <a:ext cx="5120640" cy="457200"/>
          </a:xfrm>
          <a:prstGeom prst="rect">
            <a:avLst/>
          </a:prstGeom>
          <a:noFill/>
          <a:ln/>
        </p:spPr>
        <p:txBody>
          <a:bodyPr wrap="square" lIns="1524" tIns="1524" rIns="1524" bIns="1524"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  love this game!!  @xbox  https://t.co/a1b2</a:t>
            </a:r>
            <a:endParaRPr lang="en-US" sz="1300" dirty="0"/>
          </a:p>
        </p:txBody>
      </p:sp>
      <p:sp>
        <p:nvSpPr>
          <p:cNvPr id="18" name="step"/>
          <p:cNvSpPr/>
          <p:nvPr/>
        </p:nvSpPr>
        <p:spPr>
          <a:xfrm>
            <a:off x="548640" y="3072384"/>
            <a:ext cx="3657600" cy="457200"/>
          </a:xfrm>
          <a:prstGeom prst="roundRect">
            <a:avLst>
              <a:gd name="adj" fmla="val 12000"/>
            </a:avLst>
          </a:prstGeom>
          <a:solidFill>
            <a:schemeClr val="accent2"/>
          </a:solidFill>
          <a:ln w="12700">
            <a:solidFill>
              <a:schemeClr val="accent2"/>
            </a:solidFill>
            <a:prstDash val="solid"/>
          </a:ln>
        </p:spPr>
      </p:sp>
      <p:sp>
        <p:nvSpPr>
          <p:cNvPr id="19" name="Text 17"/>
          <p:cNvSpPr txBox="1"/>
          <p:nvPr/>
        </p:nvSpPr>
        <p:spPr>
          <a:xfrm>
            <a:off x="548640" y="3072384"/>
            <a:ext cx="3657600" cy="457200"/>
          </a:xfrm>
          <a:prstGeom prst="rect">
            <a:avLst/>
          </a:prstGeom>
          <a:noFill/>
          <a:ln/>
        </p:spPr>
        <p:txBody>
          <a:bodyPr wrap="square" lIns="1524" tIns="1524" rIns="1524" bIns="1524" rtlCol="0" anchor="ctr"/>
          <a:lstStyle/>
          <a:p>
            <a:pPr indent="0" marL="0">
              <a:buNone/>
            </a:pPr>
            <a:r>
              <a:rPr lang="en-US" sz="1300" b="1" dirty="0">
                <a:solidFill>
                  <a:schemeClr val="bg1"/>
                </a:solidFill>
              </a:rPr>
              <a:t>3. Remove URLs</a:t>
            </a:r>
            <a:endParaRPr lang="en-US" sz="1300" dirty="0"/>
          </a:p>
        </p:txBody>
      </p:sp>
      <p:sp>
        <p:nvSpPr>
          <p:cNvPr id="20" name="example"/>
          <p:cNvSpPr/>
          <p:nvPr/>
        </p:nvSpPr>
        <p:spPr>
          <a:xfrm>
            <a:off x="4389120" y="3072384"/>
            <a:ext cx="5120640" cy="457200"/>
          </a:xfrm>
          <a:prstGeom prst="roundRect">
            <a:avLst>
              <a:gd name="adj" fmla="val 16000"/>
            </a:avLst>
          </a:prstGeom>
          <a:solidFill>
            <a:schemeClr val="bg2"/>
          </a:solidFill>
          <a:ln w="12700">
            <a:solidFill>
              <a:srgbClr val="CCCCCC"/>
            </a:solidFill>
            <a:prstDash val="solid"/>
          </a:ln>
        </p:spPr>
      </p:sp>
      <p:sp>
        <p:nvSpPr>
          <p:cNvPr id="21" name="Text 19"/>
          <p:cNvSpPr txBox="1"/>
          <p:nvPr/>
        </p:nvSpPr>
        <p:spPr>
          <a:xfrm>
            <a:off x="4389120" y="3072384"/>
            <a:ext cx="5120640" cy="457200"/>
          </a:xfrm>
          <a:prstGeom prst="rect">
            <a:avLst/>
          </a:prstGeom>
          <a:noFill/>
          <a:ln/>
        </p:spPr>
        <p:txBody>
          <a:bodyPr wrap="square" lIns="1524" tIns="1524" rIns="1524" bIns="1524"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  love this game!!  @xbox</a:t>
            </a:r>
            <a:endParaRPr lang="en-US" sz="1300" dirty="0"/>
          </a:p>
        </p:txBody>
      </p:sp>
      <p:sp>
        <p:nvSpPr>
          <p:cNvPr id="22" name="step"/>
          <p:cNvSpPr/>
          <p:nvPr/>
        </p:nvSpPr>
        <p:spPr>
          <a:xfrm>
            <a:off x="548640" y="3639312"/>
            <a:ext cx="3657600" cy="457200"/>
          </a:xfrm>
          <a:prstGeom prst="roundRect">
            <a:avLst>
              <a:gd name="adj" fmla="val 12000"/>
            </a:avLst>
          </a:prstGeom>
          <a:solidFill>
            <a:schemeClr val="accent1"/>
          </a:solidFill>
          <a:ln w="12700">
            <a:solidFill>
              <a:schemeClr val="accent1"/>
            </a:solidFill>
            <a:prstDash val="solid"/>
          </a:ln>
        </p:spPr>
      </p:sp>
      <p:sp>
        <p:nvSpPr>
          <p:cNvPr id="23" name="Text 21"/>
          <p:cNvSpPr txBox="1"/>
          <p:nvPr/>
        </p:nvSpPr>
        <p:spPr>
          <a:xfrm>
            <a:off x="548640" y="3639312"/>
            <a:ext cx="3657600" cy="457200"/>
          </a:xfrm>
          <a:prstGeom prst="rect">
            <a:avLst/>
          </a:prstGeom>
          <a:noFill/>
          <a:ln/>
        </p:spPr>
        <p:txBody>
          <a:bodyPr wrap="square" lIns="1524" tIns="1524" rIns="1524" bIns="1524" rtlCol="0" anchor="ctr"/>
          <a:lstStyle/>
          <a:p>
            <a:pPr indent="0" marL="0">
              <a:buNone/>
            </a:pPr>
            <a:r>
              <a:rPr lang="en-US" sz="1300" b="1" dirty="0">
                <a:solidFill>
                  <a:schemeClr val="bg1"/>
                </a:solidFill>
              </a:rPr>
              <a:t>4. Remove user mentions</a:t>
            </a:r>
            <a:endParaRPr lang="en-US" sz="1300" dirty="0"/>
          </a:p>
        </p:txBody>
      </p:sp>
      <p:sp>
        <p:nvSpPr>
          <p:cNvPr id="24" name="example"/>
          <p:cNvSpPr/>
          <p:nvPr/>
        </p:nvSpPr>
        <p:spPr>
          <a:xfrm>
            <a:off x="4389120" y="3639312"/>
            <a:ext cx="5120640" cy="457200"/>
          </a:xfrm>
          <a:prstGeom prst="roundRect">
            <a:avLst>
              <a:gd name="adj" fmla="val 16000"/>
            </a:avLst>
          </a:prstGeom>
          <a:solidFill>
            <a:schemeClr val="bg2"/>
          </a:solidFill>
          <a:ln w="12700">
            <a:solidFill>
              <a:srgbClr val="CCCCCC"/>
            </a:solidFill>
            <a:prstDash val="solid"/>
          </a:ln>
        </p:spPr>
      </p:sp>
      <p:sp>
        <p:nvSpPr>
          <p:cNvPr id="25" name="Text 23"/>
          <p:cNvSpPr txBox="1"/>
          <p:nvPr/>
        </p:nvSpPr>
        <p:spPr>
          <a:xfrm>
            <a:off x="4389120" y="3639312"/>
            <a:ext cx="5120640" cy="457200"/>
          </a:xfrm>
          <a:prstGeom prst="rect">
            <a:avLst/>
          </a:prstGeom>
          <a:noFill/>
          <a:ln/>
        </p:spPr>
        <p:txBody>
          <a:bodyPr wrap="square" lIns="1524" tIns="1524" rIns="1524" bIns="1524"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  love this game!!</a:t>
            </a:r>
            <a:endParaRPr lang="en-US" sz="1300" dirty="0"/>
          </a:p>
        </p:txBody>
      </p:sp>
      <p:sp>
        <p:nvSpPr>
          <p:cNvPr id="26" name="step"/>
          <p:cNvSpPr/>
          <p:nvPr/>
        </p:nvSpPr>
        <p:spPr>
          <a:xfrm>
            <a:off x="548640" y="4206240"/>
            <a:ext cx="3657600" cy="457200"/>
          </a:xfrm>
          <a:prstGeom prst="roundRect">
            <a:avLst>
              <a:gd name="adj" fmla="val 12000"/>
            </a:avLst>
          </a:prstGeom>
          <a:solidFill>
            <a:schemeClr val="accent2"/>
          </a:solidFill>
          <a:ln w="12700">
            <a:solidFill>
              <a:schemeClr val="accent2"/>
            </a:solidFill>
            <a:prstDash val="solid"/>
          </a:ln>
        </p:spPr>
      </p:sp>
      <p:sp>
        <p:nvSpPr>
          <p:cNvPr id="27" name="Text 25"/>
          <p:cNvSpPr txBox="1"/>
          <p:nvPr/>
        </p:nvSpPr>
        <p:spPr>
          <a:xfrm>
            <a:off x="548640" y="4206240"/>
            <a:ext cx="3657600" cy="457200"/>
          </a:xfrm>
          <a:prstGeom prst="rect">
            <a:avLst/>
          </a:prstGeom>
          <a:noFill/>
          <a:ln/>
        </p:spPr>
        <p:txBody>
          <a:bodyPr wrap="square" lIns="1524" tIns="1524" rIns="1524" bIns="1524" rtlCol="0" anchor="ctr"/>
          <a:lstStyle/>
          <a:p>
            <a:pPr indent="0" marL="0">
              <a:buNone/>
            </a:pPr>
            <a:r>
              <a:rPr lang="en-US" sz="1300" b="1" dirty="0">
                <a:solidFill>
                  <a:schemeClr val="bg1"/>
                </a:solidFill>
              </a:rPr>
              <a:t>5. Remove unwanted characters</a:t>
            </a:r>
            <a:endParaRPr lang="en-US" sz="1300" dirty="0"/>
          </a:p>
        </p:txBody>
      </p:sp>
      <p:sp>
        <p:nvSpPr>
          <p:cNvPr id="28" name="example"/>
          <p:cNvSpPr/>
          <p:nvPr/>
        </p:nvSpPr>
        <p:spPr>
          <a:xfrm>
            <a:off x="4389120" y="4206240"/>
            <a:ext cx="5120640" cy="457200"/>
          </a:xfrm>
          <a:prstGeom prst="roundRect">
            <a:avLst>
              <a:gd name="adj" fmla="val 16000"/>
            </a:avLst>
          </a:prstGeom>
          <a:solidFill>
            <a:schemeClr val="bg2"/>
          </a:solidFill>
          <a:ln w="12700">
            <a:solidFill>
              <a:srgbClr val="CCCCCC"/>
            </a:solidFill>
            <a:prstDash val="solid"/>
          </a:ln>
        </p:spPr>
      </p:sp>
      <p:sp>
        <p:nvSpPr>
          <p:cNvPr id="29" name="Text 27"/>
          <p:cNvSpPr txBox="1"/>
          <p:nvPr/>
        </p:nvSpPr>
        <p:spPr>
          <a:xfrm>
            <a:off x="4389120" y="4206240"/>
            <a:ext cx="5120640" cy="457200"/>
          </a:xfrm>
          <a:prstGeom prst="rect">
            <a:avLst/>
          </a:prstGeom>
          <a:noFill/>
          <a:ln/>
        </p:spPr>
        <p:txBody>
          <a:bodyPr wrap="square" lIns="1524" tIns="1524" rIns="1524" bIns="1524"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  love this game</a:t>
            </a:r>
            <a:endParaRPr lang="en-US" sz="1300" dirty="0"/>
          </a:p>
        </p:txBody>
      </p:sp>
      <p:sp>
        <p:nvSpPr>
          <p:cNvPr id="30" name="step"/>
          <p:cNvSpPr/>
          <p:nvPr/>
        </p:nvSpPr>
        <p:spPr>
          <a:xfrm>
            <a:off x="548640" y="4773168"/>
            <a:ext cx="3657600" cy="457200"/>
          </a:xfrm>
          <a:prstGeom prst="roundRect">
            <a:avLst>
              <a:gd name="adj" fmla="val 12000"/>
            </a:avLst>
          </a:prstGeom>
          <a:solidFill>
            <a:schemeClr val="accent1"/>
          </a:solidFill>
          <a:ln w="12700">
            <a:solidFill>
              <a:schemeClr val="accent1"/>
            </a:solidFill>
            <a:prstDash val="solid"/>
          </a:ln>
        </p:spPr>
      </p:sp>
      <p:sp>
        <p:nvSpPr>
          <p:cNvPr id="31" name="Text 29"/>
          <p:cNvSpPr txBox="1"/>
          <p:nvPr/>
        </p:nvSpPr>
        <p:spPr>
          <a:xfrm>
            <a:off x="548640" y="4773168"/>
            <a:ext cx="3657600" cy="457200"/>
          </a:xfrm>
          <a:prstGeom prst="rect">
            <a:avLst/>
          </a:prstGeom>
          <a:noFill/>
          <a:ln/>
        </p:spPr>
        <p:txBody>
          <a:bodyPr wrap="square" lIns="1524" tIns="1524" rIns="1524" bIns="1524" rtlCol="0" anchor="ctr"/>
          <a:lstStyle/>
          <a:p>
            <a:pPr indent="0" marL="0">
              <a:buNone/>
            </a:pPr>
            <a:r>
              <a:rPr lang="en-US" sz="1300" b="1" dirty="0">
                <a:solidFill>
                  <a:schemeClr val="bg1"/>
                </a:solidFill>
              </a:rPr>
              <a:t>6. Normalize extra spaces</a:t>
            </a:r>
            <a:endParaRPr lang="en-US" sz="1300" dirty="0"/>
          </a:p>
        </p:txBody>
      </p:sp>
      <p:sp>
        <p:nvSpPr>
          <p:cNvPr id="32" name="example"/>
          <p:cNvSpPr/>
          <p:nvPr/>
        </p:nvSpPr>
        <p:spPr>
          <a:xfrm>
            <a:off x="4389120" y="4773168"/>
            <a:ext cx="5120640" cy="457200"/>
          </a:xfrm>
          <a:prstGeom prst="roundRect">
            <a:avLst>
              <a:gd name="adj" fmla="val 16000"/>
            </a:avLst>
          </a:prstGeom>
          <a:solidFill>
            <a:schemeClr val="bg2"/>
          </a:solidFill>
          <a:ln w="12700">
            <a:solidFill>
              <a:srgbClr val="CCCCCC"/>
            </a:solidFill>
            <a:prstDash val="solid"/>
          </a:ln>
        </p:spPr>
      </p:sp>
      <p:sp>
        <p:nvSpPr>
          <p:cNvPr id="33" name="Text 31"/>
          <p:cNvSpPr txBox="1"/>
          <p:nvPr/>
        </p:nvSpPr>
        <p:spPr>
          <a:xfrm>
            <a:off x="4389120" y="4773168"/>
            <a:ext cx="5120640" cy="457200"/>
          </a:xfrm>
          <a:prstGeom prst="rect">
            <a:avLst/>
          </a:prstGeom>
          <a:noFill/>
          <a:ln/>
        </p:spPr>
        <p:txBody>
          <a:bodyPr wrap="square" lIns="1524" tIns="1524" rIns="1524" bIns="1524"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 love this game</a:t>
            </a:r>
            <a:endParaRPr lang="en-US" sz="1300" dirty="0"/>
          </a:p>
        </p:txBody>
      </p:sp>
      <p:sp>
        <p:nvSpPr>
          <p:cNvPr id="34" name="step"/>
          <p:cNvSpPr/>
          <p:nvPr/>
        </p:nvSpPr>
        <p:spPr>
          <a:xfrm>
            <a:off x="548640" y="5340096"/>
            <a:ext cx="3657600" cy="457200"/>
          </a:xfrm>
          <a:prstGeom prst="roundRect">
            <a:avLst>
              <a:gd name="adj" fmla="val 12000"/>
            </a:avLst>
          </a:prstGeom>
          <a:solidFill>
            <a:schemeClr val="accent2"/>
          </a:solidFill>
          <a:ln w="12700">
            <a:solidFill>
              <a:schemeClr val="accent2"/>
            </a:solidFill>
            <a:prstDash val="solid"/>
          </a:ln>
        </p:spPr>
      </p:sp>
      <p:sp>
        <p:nvSpPr>
          <p:cNvPr id="35" name="Text 33"/>
          <p:cNvSpPr txBox="1"/>
          <p:nvPr/>
        </p:nvSpPr>
        <p:spPr>
          <a:xfrm>
            <a:off x="548640" y="5340096"/>
            <a:ext cx="3657600" cy="457200"/>
          </a:xfrm>
          <a:prstGeom prst="rect">
            <a:avLst/>
          </a:prstGeom>
          <a:noFill/>
          <a:ln/>
        </p:spPr>
        <p:txBody>
          <a:bodyPr wrap="square" lIns="1524" tIns="1524" rIns="1524" bIns="1524" rtlCol="0" anchor="ctr"/>
          <a:lstStyle/>
          <a:p>
            <a:pPr indent="0" marL="0">
              <a:buNone/>
            </a:pPr>
            <a:r>
              <a:rPr lang="en-US" sz="1300" b="1" dirty="0">
                <a:solidFill>
                  <a:schemeClr val="bg1"/>
                </a:solidFill>
              </a:rPr>
              <a:t>7. Select sentiment classes</a:t>
            </a:r>
            <a:endParaRPr lang="en-US" sz="1300" dirty="0"/>
          </a:p>
        </p:txBody>
      </p:sp>
      <p:sp>
        <p:nvSpPr>
          <p:cNvPr id="36" name="example"/>
          <p:cNvSpPr/>
          <p:nvPr/>
        </p:nvSpPr>
        <p:spPr>
          <a:xfrm>
            <a:off x="4389120" y="5340096"/>
            <a:ext cx="5120640" cy="457200"/>
          </a:xfrm>
          <a:prstGeom prst="roundRect">
            <a:avLst>
              <a:gd name="adj" fmla="val 16000"/>
            </a:avLst>
          </a:prstGeom>
          <a:solidFill>
            <a:srgbClr val="E2F0E2"/>
          </a:solidFill>
          <a:ln w="12700">
            <a:solidFill>
              <a:schemeClr val="accent3"/>
            </a:solidFill>
            <a:prstDash val="solid"/>
          </a:ln>
        </p:spPr>
      </p:sp>
      <p:sp>
        <p:nvSpPr>
          <p:cNvPr id="37" name="Text 35"/>
          <p:cNvSpPr txBox="1"/>
          <p:nvPr/>
        </p:nvSpPr>
        <p:spPr>
          <a:xfrm>
            <a:off x="4389120" y="5340096"/>
            <a:ext cx="5120640" cy="457200"/>
          </a:xfrm>
          <a:prstGeom prst="rect">
            <a:avLst/>
          </a:prstGeom>
          <a:noFill/>
          <a:ln/>
        </p:spPr>
        <p:txBody>
          <a:bodyPr wrap="square" lIns="1524" tIns="1524" rIns="1524" bIns="1524"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i love this game   →   Positive (kept)</a:t>
            </a:r>
            <a:endParaRPr lang="en-US" sz="1300" dirty="0"/>
          </a:p>
        </p:txBody>
      </p:sp>
      <p:sp>
        <p:nvSpPr>
          <p:cNvPr id="38" name="note"/>
          <p:cNvSpPr/>
          <p:nvPr/>
        </p:nvSpPr>
        <p:spPr>
          <a:xfrm>
            <a:off x="548640" y="6035040"/>
            <a:ext cx="8961120" cy="868680"/>
          </a:xfrm>
          <a:prstGeom prst="roundRect">
            <a:avLst>
              <a:gd name="adj" fmla="val 8421"/>
            </a:avLst>
          </a:prstGeom>
          <a:solidFill>
            <a:srgbClr val="FFF3E8"/>
          </a:solidFill>
          <a:ln w="19050">
            <a:solidFill>
              <a:schemeClr val="accent1"/>
            </a:solidFill>
            <a:prstDash val="solid"/>
          </a:ln>
        </p:spPr>
      </p:sp>
      <p:sp>
        <p:nvSpPr>
          <p:cNvPr id="39" name="Text 37"/>
          <p:cNvSpPr txBox="1"/>
          <p:nvPr/>
        </p:nvSpPr>
        <p:spPr>
          <a:xfrm>
            <a:off x="731520" y="6035040"/>
            <a:ext cx="8595360" cy="868680"/>
          </a:xfrm>
          <a:prstGeom prst="rect">
            <a:avLst/>
          </a:prstGeom>
          <a:noFill/>
          <a:ln/>
        </p:spPr>
        <p:txBody>
          <a:bodyPr wrap="square" lIns="635" tIns="635" rIns="635" bIns="635" rtlCol="0" anchor="ctr"/>
          <a:lstStyle/>
          <a:p>
            <a:pPr indent="0" marL="0">
              <a:buNone/>
            </a:pPr>
            <a:r>
              <a:rPr lang="en-US" sz="1300" dirty="0">
                <a:solidFill>
                  <a:schemeClr val="tx1"/>
                </a:solidFill>
              </a:rPr>
              <a:t>Steps 1 and 7 remove 13,561 records:  74,682 − 13,561 = 61,121 cleaned tweets.  Stop-words are not removed, so negations such as “not” stay in the text. The same function is applied to training data and to every user input so the model always sees text in the same form.</a:t>
            </a:r>
            <a:endParaRPr lang="en-US" sz="13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FEATURES &amp; MODEL IMPLEMENTATION</a:t>
            </a:r>
            <a:endParaRPr lang="en-US" sz="1600" dirty="0"/>
          </a:p>
        </p:txBody>
      </p:sp>
      <p:sp>
        <p:nvSpPr>
          <p:cNvPr id="4" name="Text 2"/>
          <p:cNvSpPr txBox="1"/>
          <p:nvPr/>
        </p:nvSpPr>
        <p:spPr>
          <a:xfrm>
            <a:off x="548640" y="960120"/>
            <a:ext cx="4572000" cy="320040"/>
          </a:xfrm>
          <a:prstGeom prst="rect">
            <a:avLst/>
          </a:prstGeom>
          <a:noFill/>
          <a:ln/>
        </p:spPr>
        <p:txBody>
          <a:bodyPr wrap="square" lIns="635" tIns="635" rIns="635" bIns="635" rtlCol="0" anchor="t"/>
          <a:lstStyle/>
          <a:p>
            <a:pPr indent="0" marL="0">
              <a:buNone/>
            </a:pPr>
            <a:r>
              <a:rPr lang="en-US" sz="1400" b="1" dirty="0">
                <a:solidFill>
                  <a:schemeClr val="accent1"/>
                </a:solidFill>
              </a:rPr>
              <a:t>FEATURE EXTRACTION</a:t>
            </a:r>
            <a:endParaRPr lang="en-US" sz="1400" dirty="0"/>
          </a:p>
        </p:txBody>
      </p:sp>
      <p:sp>
        <p:nvSpPr>
          <p:cNvPr id="5" name="card"/>
          <p:cNvSpPr/>
          <p:nvPr/>
        </p:nvSpPr>
        <p:spPr>
          <a:xfrm>
            <a:off x="548640" y="1371600"/>
            <a:ext cx="4206240" cy="1325880"/>
          </a:xfrm>
          <a:prstGeom prst="roundRect">
            <a:avLst>
              <a:gd name="adj" fmla="val 5517"/>
            </a:avLst>
          </a:prstGeom>
          <a:solidFill>
            <a:schemeClr val="bg2"/>
          </a:solidFill>
          <a:ln w="19050">
            <a:solidFill>
              <a:schemeClr val="accent2"/>
            </a:solidFill>
            <a:prstDash val="solid"/>
          </a:ln>
        </p:spPr>
      </p:sp>
      <p:sp>
        <p:nvSpPr>
          <p:cNvPr id="6" name="Text 4"/>
          <p:cNvSpPr txBox="1"/>
          <p:nvPr/>
        </p:nvSpPr>
        <p:spPr>
          <a:xfrm>
            <a:off x="685800" y="1463040"/>
            <a:ext cx="3931920" cy="365760"/>
          </a:xfrm>
          <a:prstGeom prst="rect">
            <a:avLst/>
          </a:prstGeom>
          <a:noFill/>
          <a:ln/>
        </p:spPr>
        <p:txBody>
          <a:bodyPr wrap="square" lIns="635" tIns="635" rIns="635" bIns="635" rtlCol="0" anchor="t"/>
          <a:lstStyle/>
          <a:p>
            <a:pPr indent="0" marL="0">
              <a:buNone/>
            </a:pPr>
            <a:r>
              <a:rPr lang="en-US" sz="1500" b="1" dirty="0">
                <a:solidFill>
                  <a:schemeClr val="accent2"/>
                </a:solidFill>
              </a:rPr>
              <a:t>Word TF-IDF – 10,000 features</a:t>
            </a:r>
            <a:endParaRPr lang="en-US" sz="1500" dirty="0"/>
          </a:p>
        </p:txBody>
      </p:sp>
      <p:sp>
        <p:nvSpPr>
          <p:cNvPr id="7" name="Text 5"/>
          <p:cNvSpPr txBox="1"/>
          <p:nvPr/>
        </p:nvSpPr>
        <p:spPr>
          <a:xfrm>
            <a:off x="685800" y="1874520"/>
            <a:ext cx="3931920" cy="777240"/>
          </a:xfrm>
          <a:prstGeom prst="rect">
            <a:avLst/>
          </a:prstGeom>
          <a:noFill/>
          <a:ln/>
        </p:spPr>
        <p:txBody>
          <a:bodyPr wrap="square" lIns="635" tIns="635" rIns="635" bIns="635" rtlCol="0" anchor="t"/>
          <a:lstStyle/>
          <a:p>
            <a:pPr indent="0" marL="0">
              <a:buNone/>
            </a:pPr>
            <a:r>
              <a:rPr lang="en-US" sz="1300" dirty="0">
                <a:solidFill>
                  <a:schemeClr val="tx1"/>
                </a:solidFill>
              </a:rPr>
              <a:t>Word and phrase patterns; more weight to important, less common words</a:t>
            </a:r>
            <a:endParaRPr lang="en-US" sz="1300" dirty="0"/>
          </a:p>
        </p:txBody>
      </p:sp>
      <p:sp>
        <p:nvSpPr>
          <p:cNvPr id="8" name="card"/>
          <p:cNvSpPr/>
          <p:nvPr/>
        </p:nvSpPr>
        <p:spPr>
          <a:xfrm>
            <a:off x="548640" y="2880360"/>
            <a:ext cx="4206240" cy="1325880"/>
          </a:xfrm>
          <a:prstGeom prst="roundRect">
            <a:avLst>
              <a:gd name="adj" fmla="val 5517"/>
            </a:avLst>
          </a:prstGeom>
          <a:solidFill>
            <a:schemeClr val="bg2"/>
          </a:solidFill>
          <a:ln w="19050">
            <a:solidFill>
              <a:schemeClr val="accent1"/>
            </a:solidFill>
            <a:prstDash val="solid"/>
          </a:ln>
        </p:spPr>
      </p:sp>
      <p:sp>
        <p:nvSpPr>
          <p:cNvPr id="9" name="Text 7"/>
          <p:cNvSpPr txBox="1"/>
          <p:nvPr/>
        </p:nvSpPr>
        <p:spPr>
          <a:xfrm>
            <a:off x="685800" y="2971800"/>
            <a:ext cx="3931920" cy="365760"/>
          </a:xfrm>
          <a:prstGeom prst="rect">
            <a:avLst/>
          </a:prstGeom>
          <a:noFill/>
          <a:ln/>
        </p:spPr>
        <p:txBody>
          <a:bodyPr wrap="square" lIns="635" tIns="635" rIns="635" bIns="635" rtlCol="0" anchor="t"/>
          <a:lstStyle/>
          <a:p>
            <a:pPr indent="0" marL="0">
              <a:buNone/>
            </a:pPr>
            <a:r>
              <a:rPr lang="en-US" sz="1500" b="1" dirty="0">
                <a:solidFill>
                  <a:schemeClr val="accent1"/>
                </a:solidFill>
              </a:rPr>
              <a:t>Character TF-IDF – 5,000 features</a:t>
            </a:r>
            <a:endParaRPr lang="en-US" sz="1500" dirty="0"/>
          </a:p>
        </p:txBody>
      </p:sp>
      <p:sp>
        <p:nvSpPr>
          <p:cNvPr id="10" name="Text 8"/>
          <p:cNvSpPr txBox="1"/>
          <p:nvPr/>
        </p:nvSpPr>
        <p:spPr>
          <a:xfrm>
            <a:off x="685800" y="3383280"/>
            <a:ext cx="3931920" cy="777240"/>
          </a:xfrm>
          <a:prstGeom prst="rect">
            <a:avLst/>
          </a:prstGeom>
          <a:noFill/>
          <a:ln/>
        </p:spPr>
        <p:txBody>
          <a:bodyPr wrap="square" lIns="635" tIns="635" rIns="635" bIns="635" rtlCol="0" anchor="t"/>
          <a:lstStyle/>
          <a:p>
            <a:pPr indent="0" marL="0">
              <a:buNone/>
            </a:pPr>
            <a:r>
              <a:rPr lang="en-US" sz="1300" dirty="0">
                <a:solidFill>
                  <a:schemeClr val="tx1"/>
                </a:solidFill>
              </a:rPr>
              <a:t>Character patterns; helps with spelling variations and informal text</a:t>
            </a:r>
            <a:endParaRPr lang="en-US" sz="1300" dirty="0"/>
          </a:p>
        </p:txBody>
      </p:sp>
      <p:sp>
        <p:nvSpPr>
          <p:cNvPr id="11" name="arrow"/>
          <p:cNvSpPr/>
          <p:nvPr/>
        </p:nvSpPr>
        <p:spPr>
          <a:xfrm>
            <a:off x="2468880" y="4389120"/>
            <a:ext cx="365760" cy="365760"/>
          </a:xfrm>
          <a:prstGeom prst="downArrow">
            <a:avLst/>
          </a:prstGeom>
          <a:solidFill>
            <a:schemeClr val="accent2"/>
          </a:solidFill>
          <a:ln w="12700">
            <a:solidFill>
              <a:schemeClr val="accent2"/>
            </a:solidFill>
            <a:prstDash val="solid"/>
          </a:ln>
        </p:spPr>
      </p:sp>
      <p:sp>
        <p:nvSpPr>
          <p:cNvPr id="12" name="card"/>
          <p:cNvSpPr/>
          <p:nvPr/>
        </p:nvSpPr>
        <p:spPr>
          <a:xfrm>
            <a:off x="548640" y="4846320"/>
            <a:ext cx="4206240" cy="914400"/>
          </a:xfrm>
          <a:prstGeom prst="roundRect">
            <a:avLst>
              <a:gd name="adj" fmla="val 8000"/>
            </a:avLst>
          </a:prstGeom>
          <a:solidFill>
            <a:srgbClr val="E2F0E2"/>
          </a:solidFill>
          <a:ln w="19050">
            <a:solidFill>
              <a:schemeClr val="accent3"/>
            </a:solidFill>
            <a:prstDash val="solid"/>
          </a:ln>
        </p:spPr>
      </p:sp>
      <p:sp>
        <p:nvSpPr>
          <p:cNvPr id="13" name="Text 11"/>
          <p:cNvSpPr txBox="1"/>
          <p:nvPr/>
        </p:nvSpPr>
        <p:spPr>
          <a:xfrm>
            <a:off x="548640" y="4846320"/>
            <a:ext cx="4206240" cy="914400"/>
          </a:xfrm>
          <a:prstGeom prst="rect">
            <a:avLst/>
          </a:prstGeom>
          <a:noFill/>
          <a:ln/>
        </p:spPr>
        <p:txBody>
          <a:bodyPr wrap="square" lIns="635" tIns="635" rIns="635" bIns="635" rtlCol="0" anchor="ctr"/>
          <a:lstStyle/>
          <a:p>
            <a:pPr algn="ctr" indent="0" marL="0">
              <a:buNone/>
            </a:pPr>
            <a:r>
              <a:rPr lang="en-US" sz="1600" b="1" dirty="0">
                <a:solidFill>
                  <a:schemeClr val="accent3"/>
                </a:solidFill>
              </a:rPr>
              <a:t>Combined feature matrix</a:t>
            </a:r>
            <a:endParaRPr lang="en-US" sz="1600" dirty="0"/>
          </a:p>
          <a:p>
            <a:pPr algn="ctr" indent="0" marL="0">
              <a:buNone/>
            </a:pPr>
            <a:r>
              <a:rPr lang="en-US" sz="1600" b="1" dirty="0">
                <a:solidFill>
                  <a:schemeClr val="accent3"/>
                </a:solidFill>
              </a:rPr>
              <a:t>61,121 × 15,000</a:t>
            </a:r>
            <a:endParaRPr lang="en-US" sz="1600" dirty="0"/>
          </a:p>
        </p:txBody>
      </p:sp>
      <p:sp>
        <p:nvSpPr>
          <p:cNvPr id="14" name="Text 12"/>
          <p:cNvSpPr txBox="1"/>
          <p:nvPr/>
        </p:nvSpPr>
        <p:spPr>
          <a:xfrm>
            <a:off x="5120640" y="960120"/>
            <a:ext cx="4572000" cy="320040"/>
          </a:xfrm>
          <a:prstGeom prst="rect">
            <a:avLst/>
          </a:prstGeom>
          <a:noFill/>
          <a:ln/>
        </p:spPr>
        <p:txBody>
          <a:bodyPr wrap="square" lIns="635" tIns="635" rIns="635" bIns="635" rtlCol="0" anchor="t"/>
          <a:lstStyle/>
          <a:p>
            <a:pPr indent="0" marL="0">
              <a:buNone/>
            </a:pPr>
            <a:r>
              <a:rPr lang="en-US" sz="1400" b="1" dirty="0">
                <a:solidFill>
                  <a:schemeClr val="accent1"/>
                </a:solidFill>
              </a:rPr>
              <a:t>RANDOM FOREST CLASSIFIER</a:t>
            </a:r>
            <a:endParaRPr lang="en-US" sz="1400" dirty="0"/>
          </a:p>
        </p:txBody>
      </p:sp>
      <p:sp>
        <p:nvSpPr>
          <p:cNvPr id="15" name="card"/>
          <p:cNvSpPr/>
          <p:nvPr/>
        </p:nvSpPr>
        <p:spPr>
          <a:xfrm>
            <a:off x="5120640" y="1371600"/>
            <a:ext cx="4389120" cy="4389120"/>
          </a:xfrm>
          <a:prstGeom prst="roundRect">
            <a:avLst>
              <a:gd name="adj" fmla="val 1667"/>
            </a:avLst>
          </a:prstGeom>
          <a:solidFill>
            <a:schemeClr val="bg2"/>
          </a:solidFill>
          <a:ln w="19050">
            <a:solidFill>
              <a:schemeClr val="accent4"/>
            </a:solidFill>
            <a:prstDash val="solid"/>
          </a:ln>
        </p:spPr>
      </p:sp>
      <p:sp>
        <p:nvSpPr>
          <p:cNvPr id="16" name="Text 14"/>
          <p:cNvSpPr txBox="1"/>
          <p:nvPr/>
        </p:nvSpPr>
        <p:spPr>
          <a:xfrm>
            <a:off x="5257800" y="1463040"/>
            <a:ext cx="4114800" cy="914400"/>
          </a:xfrm>
          <a:prstGeom prst="rect">
            <a:avLst/>
          </a:prstGeom>
          <a:noFill/>
          <a:ln/>
        </p:spPr>
        <p:txBody>
          <a:bodyPr wrap="square" lIns="635" tIns="635" rIns="635" bIns="635" rtlCol="0" anchor="t"/>
          <a:lstStyle/>
          <a:p>
            <a:pPr indent="0" marL="0">
              <a:buNone/>
            </a:pPr>
            <a:r>
              <a:rPr lang="en-US" sz="1400" dirty="0">
                <a:solidFill>
                  <a:schemeClr val="tx1"/>
                </a:solidFill>
              </a:rPr>
              <a:t>An ensemble of decision trees. Each tree votes and the majority class becomes the prediction.</a:t>
            </a:r>
            <a:endParaRPr lang="en-US" sz="1400" dirty="0"/>
          </a:p>
        </p:txBody>
      </p:sp>
      <p:sp>
        <p:nvSpPr>
          <p:cNvPr id="17" name="Text 15"/>
          <p:cNvSpPr txBox="1"/>
          <p:nvPr/>
        </p:nvSpPr>
        <p:spPr>
          <a:xfrm>
            <a:off x="5257800" y="2468880"/>
            <a:ext cx="2377440" cy="411480"/>
          </a:xfrm>
          <a:prstGeom prst="rect">
            <a:avLst/>
          </a:prstGeom>
          <a:noFill/>
          <a:ln/>
        </p:spPr>
        <p:txBody>
          <a:bodyPr wrap="square" lIns="635" tIns="635" rIns="635" bIns="635" rtlCol="0" anchor="ctr"/>
          <a:lstStyle/>
          <a:p>
            <a:pPr indent="0" marL="0">
              <a:buNone/>
            </a:pPr>
            <a:r>
              <a:rPr lang="en-US" sz="1400" dirty="0">
                <a:solidFill>
                  <a:schemeClr val="tx1"/>
                </a:solidFill>
              </a:rPr>
              <a:t>Number of trees</a:t>
            </a:r>
            <a:endParaRPr lang="en-US" sz="1400" dirty="0"/>
          </a:p>
        </p:txBody>
      </p:sp>
      <p:sp>
        <p:nvSpPr>
          <p:cNvPr id="18" name="Text 16"/>
          <p:cNvSpPr txBox="1"/>
          <p:nvPr/>
        </p:nvSpPr>
        <p:spPr>
          <a:xfrm>
            <a:off x="7589520" y="2468880"/>
            <a:ext cx="1783080" cy="411480"/>
          </a:xfrm>
          <a:prstGeom prst="rect">
            <a:avLst/>
          </a:prstGeom>
          <a:noFill/>
          <a:ln/>
        </p:spPr>
        <p:txBody>
          <a:bodyPr wrap="square" lIns="635" tIns="635" rIns="635" bIns="635" rtlCol="0" anchor="ctr"/>
          <a:lstStyle/>
          <a:p>
            <a:pPr algn="r" indent="0" marL="0">
              <a:buNone/>
            </a:pPr>
            <a:r>
              <a:rPr lang="en-US" sz="1400" b="1" dirty="0">
                <a:solidFill>
                  <a:schemeClr val="accent4"/>
                </a:solidFill>
              </a:rPr>
              <a:t>100</a:t>
            </a:r>
            <a:endParaRPr lang="en-US" sz="1400" dirty="0"/>
          </a:p>
        </p:txBody>
      </p:sp>
      <p:sp>
        <p:nvSpPr>
          <p:cNvPr id="19" name="Text 17"/>
          <p:cNvSpPr txBox="1"/>
          <p:nvPr/>
        </p:nvSpPr>
        <p:spPr>
          <a:xfrm>
            <a:off x="5257800" y="2926080"/>
            <a:ext cx="2377440" cy="411480"/>
          </a:xfrm>
          <a:prstGeom prst="rect">
            <a:avLst/>
          </a:prstGeom>
          <a:noFill/>
          <a:ln/>
        </p:spPr>
        <p:txBody>
          <a:bodyPr wrap="square" lIns="635" tIns="635" rIns="635" bIns="635" rtlCol="0" anchor="ctr"/>
          <a:lstStyle/>
          <a:p>
            <a:pPr indent="0" marL="0">
              <a:buNone/>
            </a:pPr>
            <a:r>
              <a:rPr lang="en-US" sz="1400" dirty="0">
                <a:solidFill>
                  <a:schemeClr val="tx1"/>
                </a:solidFill>
              </a:rPr>
              <a:t>Maximum depth</a:t>
            </a:r>
            <a:endParaRPr lang="en-US" sz="1400" dirty="0"/>
          </a:p>
        </p:txBody>
      </p:sp>
      <p:sp>
        <p:nvSpPr>
          <p:cNvPr id="20" name="Text 18"/>
          <p:cNvSpPr txBox="1"/>
          <p:nvPr/>
        </p:nvSpPr>
        <p:spPr>
          <a:xfrm>
            <a:off x="7589520" y="2926080"/>
            <a:ext cx="1783080" cy="411480"/>
          </a:xfrm>
          <a:prstGeom prst="rect">
            <a:avLst/>
          </a:prstGeom>
          <a:noFill/>
          <a:ln/>
        </p:spPr>
        <p:txBody>
          <a:bodyPr wrap="square" lIns="635" tIns="635" rIns="635" bIns="635" rtlCol="0" anchor="ctr"/>
          <a:lstStyle/>
          <a:p>
            <a:pPr algn="r" indent="0" marL="0">
              <a:buNone/>
            </a:pPr>
            <a:r>
              <a:rPr lang="en-US" sz="1400" b="1" dirty="0">
                <a:solidFill>
                  <a:schemeClr val="accent4"/>
                </a:solidFill>
              </a:rPr>
              <a:t>None</a:t>
            </a:r>
            <a:endParaRPr lang="en-US" sz="1400" dirty="0"/>
          </a:p>
        </p:txBody>
      </p:sp>
      <p:sp>
        <p:nvSpPr>
          <p:cNvPr id="21" name="Text 19"/>
          <p:cNvSpPr txBox="1"/>
          <p:nvPr/>
        </p:nvSpPr>
        <p:spPr>
          <a:xfrm>
            <a:off x="5257800" y="3383280"/>
            <a:ext cx="2377440" cy="411480"/>
          </a:xfrm>
          <a:prstGeom prst="rect">
            <a:avLst/>
          </a:prstGeom>
          <a:noFill/>
          <a:ln/>
        </p:spPr>
        <p:txBody>
          <a:bodyPr wrap="square" lIns="635" tIns="635" rIns="635" bIns="635" rtlCol="0" anchor="ctr"/>
          <a:lstStyle/>
          <a:p>
            <a:pPr indent="0" marL="0">
              <a:buNone/>
            </a:pPr>
            <a:r>
              <a:rPr lang="en-US" sz="1400" dirty="0">
                <a:solidFill>
                  <a:schemeClr val="tx1"/>
                </a:solidFill>
              </a:rPr>
              <a:t>Class weights</a:t>
            </a:r>
            <a:endParaRPr lang="en-US" sz="1400" dirty="0"/>
          </a:p>
        </p:txBody>
      </p:sp>
      <p:sp>
        <p:nvSpPr>
          <p:cNvPr id="22" name="Text 20"/>
          <p:cNvSpPr txBox="1"/>
          <p:nvPr/>
        </p:nvSpPr>
        <p:spPr>
          <a:xfrm>
            <a:off x="7589520" y="3383280"/>
            <a:ext cx="1783080" cy="411480"/>
          </a:xfrm>
          <a:prstGeom prst="rect">
            <a:avLst/>
          </a:prstGeom>
          <a:noFill/>
          <a:ln/>
        </p:spPr>
        <p:txBody>
          <a:bodyPr wrap="square" lIns="635" tIns="635" rIns="635" bIns="635" rtlCol="0" anchor="ctr"/>
          <a:lstStyle/>
          <a:p>
            <a:pPr algn="r" indent="0" marL="0">
              <a:buNone/>
            </a:pPr>
            <a:r>
              <a:rPr lang="en-US" sz="1400" b="1" dirty="0">
                <a:solidFill>
                  <a:schemeClr val="accent4"/>
                </a:solidFill>
              </a:rPr>
              <a:t>balanced</a:t>
            </a:r>
            <a:endParaRPr lang="en-US" sz="1400" dirty="0"/>
          </a:p>
        </p:txBody>
      </p:sp>
      <p:sp>
        <p:nvSpPr>
          <p:cNvPr id="23" name="Text 21"/>
          <p:cNvSpPr txBox="1"/>
          <p:nvPr/>
        </p:nvSpPr>
        <p:spPr>
          <a:xfrm>
            <a:off x="5257800" y="3840480"/>
            <a:ext cx="2377440" cy="411480"/>
          </a:xfrm>
          <a:prstGeom prst="rect">
            <a:avLst/>
          </a:prstGeom>
          <a:noFill/>
          <a:ln/>
        </p:spPr>
        <p:txBody>
          <a:bodyPr wrap="square" lIns="635" tIns="635" rIns="635" bIns="635" rtlCol="0" anchor="ctr"/>
          <a:lstStyle/>
          <a:p>
            <a:pPr indent="0" marL="0">
              <a:buNone/>
            </a:pPr>
            <a:r>
              <a:rPr lang="en-US" sz="1400" dirty="0">
                <a:solidFill>
                  <a:schemeClr val="tx1"/>
                </a:solidFill>
              </a:rPr>
              <a:t>Random seed</a:t>
            </a:r>
            <a:endParaRPr lang="en-US" sz="1400" dirty="0"/>
          </a:p>
        </p:txBody>
      </p:sp>
      <p:sp>
        <p:nvSpPr>
          <p:cNvPr id="24" name="Text 22"/>
          <p:cNvSpPr txBox="1"/>
          <p:nvPr/>
        </p:nvSpPr>
        <p:spPr>
          <a:xfrm>
            <a:off x="7589520" y="3840480"/>
            <a:ext cx="1783080" cy="411480"/>
          </a:xfrm>
          <a:prstGeom prst="rect">
            <a:avLst/>
          </a:prstGeom>
          <a:noFill/>
          <a:ln/>
        </p:spPr>
        <p:txBody>
          <a:bodyPr wrap="square" lIns="635" tIns="635" rIns="635" bIns="635" rtlCol="0" anchor="ctr"/>
          <a:lstStyle/>
          <a:p>
            <a:pPr algn="r" indent="0" marL="0">
              <a:buNone/>
            </a:pPr>
            <a:r>
              <a:rPr lang="en-US" sz="1400" b="1" dirty="0">
                <a:solidFill>
                  <a:schemeClr val="accent4"/>
                </a:solidFill>
              </a:rPr>
              <a:t>42</a:t>
            </a:r>
            <a:endParaRPr lang="en-US" sz="1400" dirty="0"/>
          </a:p>
        </p:txBody>
      </p:sp>
      <p:sp>
        <p:nvSpPr>
          <p:cNvPr id="25" name="Text 23"/>
          <p:cNvSpPr txBox="1"/>
          <p:nvPr/>
        </p:nvSpPr>
        <p:spPr>
          <a:xfrm>
            <a:off x="5257800" y="4297680"/>
            <a:ext cx="2377440" cy="411480"/>
          </a:xfrm>
          <a:prstGeom prst="rect">
            <a:avLst/>
          </a:prstGeom>
          <a:noFill/>
          <a:ln/>
        </p:spPr>
        <p:txBody>
          <a:bodyPr wrap="square" lIns="635" tIns="635" rIns="635" bIns="635" rtlCol="0" anchor="ctr"/>
          <a:lstStyle/>
          <a:p>
            <a:pPr indent="0" marL="0">
              <a:buNone/>
            </a:pPr>
            <a:r>
              <a:rPr lang="en-US" sz="1400" dirty="0">
                <a:solidFill>
                  <a:schemeClr val="tx1"/>
                </a:solidFill>
              </a:rPr>
              <a:t>Train / test split</a:t>
            </a:r>
            <a:endParaRPr lang="en-US" sz="1400" dirty="0"/>
          </a:p>
        </p:txBody>
      </p:sp>
      <p:sp>
        <p:nvSpPr>
          <p:cNvPr id="26" name="Text 24"/>
          <p:cNvSpPr txBox="1"/>
          <p:nvPr/>
        </p:nvSpPr>
        <p:spPr>
          <a:xfrm>
            <a:off x="7589520" y="4297680"/>
            <a:ext cx="1783080" cy="411480"/>
          </a:xfrm>
          <a:prstGeom prst="rect">
            <a:avLst/>
          </a:prstGeom>
          <a:noFill/>
          <a:ln/>
        </p:spPr>
        <p:txBody>
          <a:bodyPr wrap="square" lIns="635" tIns="635" rIns="635" bIns="635" rtlCol="0" anchor="ctr"/>
          <a:lstStyle/>
          <a:p>
            <a:pPr algn="r" indent="0" marL="0">
              <a:buNone/>
            </a:pPr>
            <a:r>
              <a:rPr lang="en-US" sz="1400" b="1" dirty="0">
                <a:solidFill>
                  <a:schemeClr val="accent4"/>
                </a:solidFill>
              </a:rPr>
              <a:t>80% / 20%</a:t>
            </a:r>
            <a:endParaRPr lang="en-US" sz="1400" dirty="0"/>
          </a:p>
        </p:txBody>
      </p:sp>
      <p:sp>
        <p:nvSpPr>
          <p:cNvPr id="27" name="Text 25"/>
          <p:cNvSpPr txBox="1"/>
          <p:nvPr/>
        </p:nvSpPr>
        <p:spPr>
          <a:xfrm>
            <a:off x="5257800" y="4754880"/>
            <a:ext cx="2377440" cy="411480"/>
          </a:xfrm>
          <a:prstGeom prst="rect">
            <a:avLst/>
          </a:prstGeom>
          <a:noFill/>
          <a:ln/>
        </p:spPr>
        <p:txBody>
          <a:bodyPr wrap="square" lIns="635" tIns="635" rIns="635" bIns="635" rtlCol="0" anchor="ctr"/>
          <a:lstStyle/>
          <a:p>
            <a:pPr indent="0" marL="0">
              <a:buNone/>
            </a:pPr>
            <a:r>
              <a:rPr lang="en-US" sz="1400" dirty="0">
                <a:solidFill>
                  <a:schemeClr val="tx1"/>
                </a:solidFill>
              </a:rPr>
              <a:t>Training samples</a:t>
            </a:r>
            <a:endParaRPr lang="en-US" sz="1400" dirty="0"/>
          </a:p>
        </p:txBody>
      </p:sp>
      <p:sp>
        <p:nvSpPr>
          <p:cNvPr id="28" name="Text 26"/>
          <p:cNvSpPr txBox="1"/>
          <p:nvPr/>
        </p:nvSpPr>
        <p:spPr>
          <a:xfrm>
            <a:off x="7589520" y="4754880"/>
            <a:ext cx="1783080" cy="411480"/>
          </a:xfrm>
          <a:prstGeom prst="rect">
            <a:avLst/>
          </a:prstGeom>
          <a:noFill/>
          <a:ln/>
        </p:spPr>
        <p:txBody>
          <a:bodyPr wrap="square" lIns="635" tIns="635" rIns="635" bIns="635" rtlCol="0" anchor="ctr"/>
          <a:lstStyle/>
          <a:p>
            <a:pPr algn="r" indent="0" marL="0">
              <a:buNone/>
            </a:pPr>
            <a:r>
              <a:rPr lang="en-US" sz="1400" b="1" dirty="0">
                <a:solidFill>
                  <a:schemeClr val="accent4"/>
                </a:solidFill>
              </a:rPr>
              <a:t>48,896</a:t>
            </a:r>
            <a:endParaRPr lang="en-US" sz="1400" dirty="0"/>
          </a:p>
        </p:txBody>
      </p:sp>
      <p:sp>
        <p:nvSpPr>
          <p:cNvPr id="29" name="Text 27"/>
          <p:cNvSpPr txBox="1"/>
          <p:nvPr/>
        </p:nvSpPr>
        <p:spPr>
          <a:xfrm>
            <a:off x="5257800" y="5212080"/>
            <a:ext cx="2377440" cy="411480"/>
          </a:xfrm>
          <a:prstGeom prst="rect">
            <a:avLst/>
          </a:prstGeom>
          <a:noFill/>
          <a:ln/>
        </p:spPr>
        <p:txBody>
          <a:bodyPr wrap="square" lIns="635" tIns="635" rIns="635" bIns="635" rtlCol="0" anchor="ctr"/>
          <a:lstStyle/>
          <a:p>
            <a:pPr indent="0" marL="0">
              <a:buNone/>
            </a:pPr>
            <a:r>
              <a:rPr lang="en-US" sz="1400" dirty="0">
                <a:solidFill>
                  <a:schemeClr val="tx1"/>
                </a:solidFill>
              </a:rPr>
              <a:t>Test samples</a:t>
            </a:r>
            <a:endParaRPr lang="en-US" sz="1400" dirty="0"/>
          </a:p>
        </p:txBody>
      </p:sp>
      <p:sp>
        <p:nvSpPr>
          <p:cNvPr id="30" name="Text 28"/>
          <p:cNvSpPr txBox="1"/>
          <p:nvPr/>
        </p:nvSpPr>
        <p:spPr>
          <a:xfrm>
            <a:off x="7589520" y="5212080"/>
            <a:ext cx="1783080" cy="411480"/>
          </a:xfrm>
          <a:prstGeom prst="rect">
            <a:avLst/>
          </a:prstGeom>
          <a:noFill/>
          <a:ln/>
        </p:spPr>
        <p:txBody>
          <a:bodyPr wrap="square" lIns="635" tIns="635" rIns="635" bIns="635" rtlCol="0" anchor="ctr"/>
          <a:lstStyle/>
          <a:p>
            <a:pPr algn="r" indent="0" marL="0">
              <a:buNone/>
            </a:pPr>
            <a:r>
              <a:rPr lang="en-US" sz="1400" b="1" dirty="0">
                <a:solidFill>
                  <a:schemeClr val="accent4"/>
                </a:solidFill>
              </a:rPr>
              <a:t>12,225</a:t>
            </a:r>
            <a:endParaRPr lang="en-US" sz="1400" dirty="0"/>
          </a:p>
        </p:txBody>
      </p:sp>
      <p:sp>
        <p:nvSpPr>
          <p:cNvPr id="31" name="Text 29"/>
          <p:cNvSpPr txBox="1"/>
          <p:nvPr/>
        </p:nvSpPr>
        <p:spPr>
          <a:xfrm>
            <a:off x="548640" y="5943600"/>
            <a:ext cx="8961120" cy="457200"/>
          </a:xfrm>
          <a:prstGeom prst="rect">
            <a:avLst/>
          </a:prstGeom>
          <a:noFill/>
          <a:ln/>
        </p:spPr>
        <p:txBody>
          <a:bodyPr wrap="square" lIns="635" tIns="635" rIns="635" bIns="635" rtlCol="0" anchor="t"/>
          <a:lstStyle/>
          <a:p>
            <a:pPr algn="ctr" indent="0" marL="0">
              <a:buNone/>
            </a:pPr>
            <a:r>
              <a:rPr lang="en-US" sz="1300" b="1" dirty="0">
                <a:solidFill>
                  <a:schemeClr val="accent4"/>
                </a:solidFill>
              </a:rPr>
              <a:t>TF-IDF(t, d) = tf(t, d) × log( N / df(t) )      Gini impurity G = 1 − Σ pk²      Prediction ŷ = majority vote of the 100 trees</a:t>
            </a:r>
            <a:endParaRPr lang="en-US" sz="1300" dirty="0"/>
          </a:p>
        </p:txBody>
      </p:sp>
      <p:sp>
        <p:nvSpPr>
          <p:cNvPr id="32" name="Text 30"/>
          <p:cNvSpPr txBox="1"/>
          <p:nvPr/>
        </p:nvSpPr>
        <p:spPr>
          <a:xfrm>
            <a:off x="548640" y="6446520"/>
            <a:ext cx="8961120" cy="640080"/>
          </a:xfrm>
          <a:prstGeom prst="rect">
            <a:avLst/>
          </a:prstGeom>
          <a:noFill/>
          <a:ln/>
        </p:spPr>
        <p:txBody>
          <a:bodyPr wrap="square" lIns="635" tIns="635" rIns="635" bIns="635" rtlCol="0" anchor="t"/>
          <a:lstStyle/>
          <a:p>
            <a:pPr indent="0" marL="0">
              <a:buNone/>
            </a:pPr>
            <a:r>
              <a:rPr lang="en-US" sz="1300" i="1" dirty="0">
                <a:solidFill>
                  <a:schemeClr val="tx2"/>
                </a:solidFill>
              </a:rPr>
              <a:t>Trained model and both vectorizers are saved with Joblib and loaded by predict.py for new text. A rule-based layer then confirms or adjusts the prediction.</a:t>
            </a:r>
            <a:endParaRPr lang="en-US" sz="13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IMPLEMENTATION</a:t>
            </a:r>
            <a:endParaRPr lang="en-US" sz="1600" dirty="0"/>
          </a:p>
        </p:txBody>
      </p:sp>
      <p:graphicFrame>
        <p:nvGraphicFramePr>
          <p:cNvPr id="12" name="tech table"/>
          <p:cNvGraphicFramePr>
            <a:graphicFrameLocks noGrp="1"/>
          </p:cNvGraphicFramePr>
          <p:nvPr>
            <p:extLst>
              <p:ext uri="{D42A27DB-BD31-4B8C-83A1-F6EECF244321}">
                <p14:modId xmlns:p14="http://schemas.microsoft.com/office/powerpoint/2010/main" val="1579011935"/>
              </p:ext>
            </p:extLst>
          </p:nvPr>
        </p:nvGraphicFramePr>
        <p:xfrm>
          <a:off x="548640" y="1097280"/>
          <a:ext cx="5120640" cy="914400"/>
        </p:xfrm>
        <a:graphic>
          <a:graphicData uri="http://schemas.openxmlformats.org/drawingml/2006/table">
            <a:tbl>
              <a:tblPr/>
              <a:tblGrid>
                <a:gridCol w="2194560"/>
                <a:gridCol w="2926080"/>
              </a:tblGrid>
              <a:tr h="457200">
                <a:tc>
                  <a:txBody>
                    <a:bodyPr/>
                    <a:lstStyle/>
                    <a:p>
                      <a:pPr indent="0" marL="0">
                        <a:buNone/>
                      </a:pPr>
                      <a:r>
                        <a:rPr lang="en-US" sz="1400" b="1" dirty="0">
                          <a:solidFill>
                            <a:schemeClr val="bg1"/>
                          </a:solidFill>
                        </a:rPr>
                        <a:t>Component</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Technology</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r>
              <a:tr h="457200">
                <a:tc>
                  <a:txBody>
                    <a:bodyPr/>
                    <a:lstStyle/>
                    <a:p>
                      <a:pPr indent="0" marL="0">
                        <a:buNone/>
                      </a:pPr>
                      <a:r>
                        <a:rPr lang="en-US" sz="1400" b="1" dirty="0">
                          <a:solidFill>
                            <a:schemeClr val="tx2"/>
                          </a:solidFill>
                        </a:rPr>
                        <a:t>Programming Language</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Python</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Data Processing</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Pandas, NumPy</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Text Processing</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NLTK / Regular Expressions</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Feature Extraction</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TF-IDF (Scikit-learn)</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Machine Learning</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Scikit-learn</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Model</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Random Forest</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Model Saving</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Joblib</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Web Interface</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Flask</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Frontend</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HTML, CSS</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IDE / OS</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VS Code; Windows 10 / Linux / macOS</a:t>
                      </a:r>
                      <a:endParaRPr lang="en-US" sz="14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6720840"/>
            <a:ext cx="8961120" cy="457200"/>
          </a:xfrm>
          <a:prstGeom prst="rect">
            <a:avLst/>
          </a:prstGeom>
          <a:noFill/>
          <a:ln/>
        </p:spPr>
        <p:txBody>
          <a:bodyPr wrap="square" lIns="635" tIns="635" rIns="635" bIns="635" rtlCol="0" anchor="t"/>
          <a:lstStyle/>
          <a:p>
            <a:pPr indent="0" marL="0">
              <a:buNone/>
            </a:pPr>
            <a:r>
              <a:rPr lang="en-US" sz="1200" i="1" dirty="0">
                <a:solidFill>
                  <a:schemeClr val="tx2"/>
                </a:solidFill>
              </a:rPr>
              <a:t>Runs on a standard PC (Intel Core i3/i5, 8 GB RAM, 64-bit OS); all tools are free and portable across Windows, Linux and macOS.</a:t>
            </a:r>
            <a:endParaRPr lang="en-US" sz="1200" dirty="0"/>
          </a:p>
        </p:txBody>
      </p:sp>
      <p:sp>
        <p:nvSpPr>
          <p:cNvPr id="6" name="Text 3"/>
          <p:cNvSpPr txBox="1"/>
          <p:nvPr/>
        </p:nvSpPr>
        <p:spPr>
          <a:xfrm>
            <a:off x="6126480" y="1097280"/>
            <a:ext cx="3383280" cy="320040"/>
          </a:xfrm>
          <a:prstGeom prst="rect">
            <a:avLst/>
          </a:prstGeom>
          <a:noFill/>
          <a:ln/>
        </p:spPr>
        <p:txBody>
          <a:bodyPr wrap="square" lIns="635" tIns="635" rIns="635" bIns="635" rtlCol="0" anchor="t"/>
          <a:lstStyle/>
          <a:p>
            <a:pPr indent="0" marL="0">
              <a:buNone/>
            </a:pPr>
            <a:r>
              <a:rPr lang="en-US" sz="1400" b="1" dirty="0">
                <a:solidFill>
                  <a:schemeClr val="accent1"/>
                </a:solidFill>
              </a:rPr>
              <a:t>Main Project Files</a:t>
            </a:r>
            <a:endParaRPr lang="en-US" sz="1400" dirty="0"/>
          </a:p>
        </p:txBody>
      </p:sp>
      <p:sp>
        <p:nvSpPr>
          <p:cNvPr id="7" name="file"/>
          <p:cNvSpPr/>
          <p:nvPr/>
        </p:nvSpPr>
        <p:spPr>
          <a:xfrm>
            <a:off x="6126480" y="1554480"/>
            <a:ext cx="3383280" cy="594360"/>
          </a:xfrm>
          <a:prstGeom prst="roundRect">
            <a:avLst>
              <a:gd name="adj" fmla="val 12308"/>
            </a:avLst>
          </a:prstGeom>
          <a:solidFill>
            <a:srgbClr val="FFF3E8"/>
          </a:solidFill>
          <a:ln w="12700">
            <a:solidFill>
              <a:schemeClr val="accent1"/>
            </a:solidFill>
            <a:prstDash val="solid"/>
          </a:ln>
        </p:spPr>
      </p:sp>
      <p:sp>
        <p:nvSpPr>
          <p:cNvPr id="8" name="Text 5"/>
          <p:cNvSpPr txBox="1"/>
          <p:nvPr/>
        </p:nvSpPr>
        <p:spPr>
          <a:xfrm>
            <a:off x="6126480" y="1554480"/>
            <a:ext cx="3383280" cy="594360"/>
          </a:xfrm>
          <a:prstGeom prst="rect">
            <a:avLst/>
          </a:prstGeom>
          <a:noFill/>
          <a:ln/>
        </p:spPr>
        <p:txBody>
          <a:bodyPr wrap="square" lIns="0" tIns="0" rIns="0" bIns="0" rtlCol="0" anchor="ctr"/>
          <a:lstStyle/>
          <a:p>
            <a:pPr algn="ctr" indent="0" marL="0">
              <a:buNone/>
            </a:pPr>
            <a:r>
              <a:rPr lang="en-US" sz="1500" b="1" dirty="0">
                <a:solidFill>
                  <a:schemeClr val="tx2"/>
                </a:solidFill>
              </a:rPr>
              <a:t>app.py</a:t>
            </a:r>
            <a:endParaRPr lang="en-US" sz="1400" dirty="0"/>
          </a:p>
          <a:p>
            <a:pPr algn="ctr" indent="0" marL="0">
              <a:buNone/>
            </a:pPr>
            <a:r>
              <a:rPr lang="en-US" sz="1100" dirty="0">
                <a:solidFill>
                  <a:schemeClr val="tx1"/>
                </a:solidFill>
              </a:rPr>
              <a:t>Flask application</a:t>
            </a:r>
            <a:endParaRPr lang="en-US" sz="1400" dirty="0"/>
          </a:p>
        </p:txBody>
      </p:sp>
      <p:sp>
        <p:nvSpPr>
          <p:cNvPr id="9" name="file"/>
          <p:cNvSpPr/>
          <p:nvPr/>
        </p:nvSpPr>
        <p:spPr>
          <a:xfrm>
            <a:off x="6126480" y="2331720"/>
            <a:ext cx="3383280" cy="594360"/>
          </a:xfrm>
          <a:prstGeom prst="roundRect">
            <a:avLst>
              <a:gd name="adj" fmla="val 12308"/>
            </a:avLst>
          </a:prstGeom>
          <a:solidFill>
            <a:srgbClr val="FFF3E8"/>
          </a:solidFill>
          <a:ln w="12700">
            <a:solidFill>
              <a:schemeClr val="accent1"/>
            </a:solidFill>
            <a:prstDash val="solid"/>
          </a:ln>
        </p:spPr>
      </p:sp>
      <p:sp>
        <p:nvSpPr>
          <p:cNvPr id="10" name="Text 7"/>
          <p:cNvSpPr txBox="1"/>
          <p:nvPr/>
        </p:nvSpPr>
        <p:spPr>
          <a:xfrm>
            <a:off x="6126480" y="2331720"/>
            <a:ext cx="3383280" cy="594360"/>
          </a:xfrm>
          <a:prstGeom prst="rect">
            <a:avLst/>
          </a:prstGeom>
          <a:noFill/>
          <a:ln/>
        </p:spPr>
        <p:txBody>
          <a:bodyPr wrap="square" lIns="0" tIns="0" rIns="0" bIns="0" rtlCol="0" anchor="ctr"/>
          <a:lstStyle/>
          <a:p>
            <a:pPr algn="ctr" indent="0" marL="0">
              <a:buNone/>
            </a:pPr>
            <a:r>
              <a:rPr lang="en-US" sz="1500" b="1" dirty="0">
                <a:solidFill>
                  <a:schemeClr val="tx2"/>
                </a:solidFill>
              </a:rPr>
              <a:t>predict.py</a:t>
            </a:r>
            <a:endParaRPr lang="en-US" sz="1400" dirty="0"/>
          </a:p>
          <a:p>
            <a:pPr algn="ctr" indent="0" marL="0">
              <a:buNone/>
            </a:pPr>
            <a:r>
              <a:rPr lang="en-US" sz="1100" dirty="0">
                <a:solidFill>
                  <a:schemeClr val="tx1"/>
                </a:solidFill>
              </a:rPr>
              <a:t>loads model, predicts</a:t>
            </a:r>
            <a:endParaRPr lang="en-US" sz="1400" dirty="0"/>
          </a:p>
        </p:txBody>
      </p:sp>
      <p:sp>
        <p:nvSpPr>
          <p:cNvPr id="11" name="file"/>
          <p:cNvSpPr/>
          <p:nvPr/>
        </p:nvSpPr>
        <p:spPr>
          <a:xfrm>
            <a:off x="6126480" y="3108960"/>
            <a:ext cx="3383280" cy="594360"/>
          </a:xfrm>
          <a:prstGeom prst="roundRect">
            <a:avLst>
              <a:gd name="adj" fmla="val 12308"/>
            </a:avLst>
          </a:prstGeom>
          <a:solidFill>
            <a:srgbClr val="FFF3E8"/>
          </a:solidFill>
          <a:ln w="12700">
            <a:solidFill>
              <a:schemeClr val="accent1"/>
            </a:solidFill>
            <a:prstDash val="solid"/>
          </a:ln>
        </p:spPr>
      </p:sp>
      <p:sp>
        <p:nvSpPr>
          <p:cNvPr id="12" name="Text 9"/>
          <p:cNvSpPr txBox="1"/>
          <p:nvPr/>
        </p:nvSpPr>
        <p:spPr>
          <a:xfrm>
            <a:off x="6126480" y="3108960"/>
            <a:ext cx="3383280" cy="594360"/>
          </a:xfrm>
          <a:prstGeom prst="rect">
            <a:avLst/>
          </a:prstGeom>
          <a:noFill/>
          <a:ln/>
        </p:spPr>
        <p:txBody>
          <a:bodyPr wrap="square" lIns="0" tIns="0" rIns="0" bIns="0" rtlCol="0" anchor="ctr"/>
          <a:lstStyle/>
          <a:p>
            <a:pPr algn="ctr" indent="0" marL="0">
              <a:buNone/>
            </a:pPr>
            <a:r>
              <a:rPr lang="en-US" sz="1500" b="1" dirty="0">
                <a:solidFill>
                  <a:schemeClr val="tx2"/>
                </a:solidFill>
              </a:rPr>
              <a:t>preprocess.py</a:t>
            </a:r>
            <a:endParaRPr lang="en-US" sz="1400" dirty="0"/>
          </a:p>
          <a:p>
            <a:pPr algn="ctr" indent="0" marL="0">
              <a:buNone/>
            </a:pPr>
            <a:r>
              <a:rPr lang="en-US" sz="1100" dirty="0">
                <a:solidFill>
                  <a:schemeClr val="tx1"/>
                </a:solidFill>
              </a:rPr>
              <a:t>text cleaning steps</a:t>
            </a:r>
            <a:endParaRPr lang="en-US" sz="1400" dirty="0"/>
          </a:p>
        </p:txBody>
      </p:sp>
      <p:sp>
        <p:nvSpPr>
          <p:cNvPr id="13" name="file"/>
          <p:cNvSpPr/>
          <p:nvPr/>
        </p:nvSpPr>
        <p:spPr>
          <a:xfrm>
            <a:off x="6126480" y="3886200"/>
            <a:ext cx="3383280" cy="594360"/>
          </a:xfrm>
          <a:prstGeom prst="roundRect">
            <a:avLst>
              <a:gd name="adj" fmla="val 12308"/>
            </a:avLst>
          </a:prstGeom>
          <a:solidFill>
            <a:srgbClr val="FFF3E8"/>
          </a:solidFill>
          <a:ln w="12700">
            <a:solidFill>
              <a:schemeClr val="accent1"/>
            </a:solidFill>
            <a:prstDash val="solid"/>
          </a:ln>
        </p:spPr>
      </p:sp>
      <p:sp>
        <p:nvSpPr>
          <p:cNvPr id="14" name="Text 11"/>
          <p:cNvSpPr txBox="1"/>
          <p:nvPr/>
        </p:nvSpPr>
        <p:spPr>
          <a:xfrm>
            <a:off x="6126480" y="3886200"/>
            <a:ext cx="3383280" cy="594360"/>
          </a:xfrm>
          <a:prstGeom prst="rect">
            <a:avLst/>
          </a:prstGeom>
          <a:noFill/>
          <a:ln/>
        </p:spPr>
        <p:txBody>
          <a:bodyPr wrap="square" lIns="0" tIns="0" rIns="0" bIns="0" rtlCol="0" anchor="ctr"/>
          <a:lstStyle/>
          <a:p>
            <a:pPr algn="ctr" indent="0" marL="0">
              <a:buNone/>
            </a:pPr>
            <a:r>
              <a:rPr lang="en-US" sz="1500" b="1" dirty="0">
                <a:solidFill>
                  <a:schemeClr val="tx2"/>
                </a:solidFill>
              </a:rPr>
              <a:t>train_model.py</a:t>
            </a:r>
            <a:endParaRPr lang="en-US" sz="1400" dirty="0"/>
          </a:p>
          <a:p>
            <a:pPr algn="ctr" indent="0" marL="0">
              <a:buNone/>
            </a:pPr>
            <a:r>
              <a:rPr lang="en-US" sz="1100" dirty="0">
                <a:solidFill>
                  <a:schemeClr val="tx1"/>
                </a:solidFill>
              </a:rPr>
              <a:t>TF-IDF, training, saving</a:t>
            </a:r>
            <a:endParaRPr lang="en-US" sz="1400" dirty="0"/>
          </a:p>
        </p:txBody>
      </p:sp>
      <p:sp>
        <p:nvSpPr>
          <p:cNvPr id="15" name="file"/>
          <p:cNvSpPr/>
          <p:nvPr/>
        </p:nvSpPr>
        <p:spPr>
          <a:xfrm>
            <a:off x="6126480" y="4663440"/>
            <a:ext cx="3383280" cy="594360"/>
          </a:xfrm>
          <a:prstGeom prst="roundRect">
            <a:avLst>
              <a:gd name="adj" fmla="val 12308"/>
            </a:avLst>
          </a:prstGeom>
          <a:solidFill>
            <a:srgbClr val="FFF3E8"/>
          </a:solidFill>
          <a:ln w="12700">
            <a:solidFill>
              <a:schemeClr val="accent1"/>
            </a:solidFill>
            <a:prstDash val="solid"/>
          </a:ln>
        </p:spPr>
      </p:sp>
      <p:sp>
        <p:nvSpPr>
          <p:cNvPr id="16" name="Text 13"/>
          <p:cNvSpPr txBox="1"/>
          <p:nvPr/>
        </p:nvSpPr>
        <p:spPr>
          <a:xfrm>
            <a:off x="6126480" y="4663440"/>
            <a:ext cx="3383280" cy="594360"/>
          </a:xfrm>
          <a:prstGeom prst="rect">
            <a:avLst/>
          </a:prstGeom>
          <a:noFill/>
          <a:ln/>
        </p:spPr>
        <p:txBody>
          <a:bodyPr wrap="square" lIns="0" tIns="0" rIns="0" bIns="0" rtlCol="0" anchor="ctr"/>
          <a:lstStyle/>
          <a:p>
            <a:pPr algn="ctr" indent="0" marL="0">
              <a:buNone/>
            </a:pPr>
            <a:r>
              <a:rPr lang="en-US" sz="1500" b="1" dirty="0">
                <a:solidFill>
                  <a:schemeClr val="tx2"/>
                </a:solidFill>
              </a:rPr>
              <a:t>models/</a:t>
            </a:r>
            <a:endParaRPr lang="en-US" sz="1400" dirty="0"/>
          </a:p>
          <a:p>
            <a:pPr algn="ctr" indent="0" marL="0">
              <a:buNone/>
            </a:pPr>
            <a:r>
              <a:rPr lang="en-US" sz="1100" dirty="0">
                <a:solidFill>
                  <a:schemeClr val="tx1"/>
                </a:solidFill>
              </a:rPr>
              <a:t>saved model + vectorizers</a:t>
            </a:r>
            <a:endParaRPr lang="en-US" sz="1400" dirty="0"/>
          </a:p>
        </p:txBody>
      </p:sp>
      <p:sp>
        <p:nvSpPr>
          <p:cNvPr id="17" name="file"/>
          <p:cNvSpPr/>
          <p:nvPr/>
        </p:nvSpPr>
        <p:spPr>
          <a:xfrm>
            <a:off x="6126480" y="5440680"/>
            <a:ext cx="3383280" cy="594360"/>
          </a:xfrm>
          <a:prstGeom prst="roundRect">
            <a:avLst>
              <a:gd name="adj" fmla="val 12308"/>
            </a:avLst>
          </a:prstGeom>
          <a:solidFill>
            <a:srgbClr val="FFF3E8"/>
          </a:solidFill>
          <a:ln w="12700">
            <a:solidFill>
              <a:schemeClr val="accent1"/>
            </a:solidFill>
            <a:prstDash val="solid"/>
          </a:ln>
        </p:spPr>
      </p:sp>
      <p:sp>
        <p:nvSpPr>
          <p:cNvPr id="18" name="Text 15"/>
          <p:cNvSpPr txBox="1"/>
          <p:nvPr/>
        </p:nvSpPr>
        <p:spPr>
          <a:xfrm>
            <a:off x="6126480" y="5440680"/>
            <a:ext cx="3383280" cy="594360"/>
          </a:xfrm>
          <a:prstGeom prst="rect">
            <a:avLst/>
          </a:prstGeom>
          <a:noFill/>
          <a:ln/>
        </p:spPr>
        <p:txBody>
          <a:bodyPr wrap="square" lIns="0" tIns="0" rIns="0" bIns="0" rtlCol="0" anchor="ctr"/>
          <a:lstStyle/>
          <a:p>
            <a:pPr algn="ctr" indent="0" marL="0">
              <a:buNone/>
            </a:pPr>
            <a:r>
              <a:rPr lang="en-US" sz="1500" b="1" dirty="0">
                <a:solidFill>
                  <a:schemeClr val="tx2"/>
                </a:solidFill>
              </a:rPr>
              <a:t>templates/</a:t>
            </a:r>
            <a:endParaRPr lang="en-US" sz="1400" dirty="0"/>
          </a:p>
          <a:p>
            <a:pPr algn="ctr" indent="0" marL="0">
              <a:buNone/>
            </a:pPr>
            <a:r>
              <a:rPr lang="en-US" sz="1100" dirty="0">
                <a:solidFill>
                  <a:schemeClr val="tx1"/>
                </a:solidFill>
              </a:rPr>
              <a:t>HTML pages</a:t>
            </a:r>
            <a:endParaRPr lang="en-US" sz="14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MODEL TRAINING OUTPUT</a:t>
            </a:r>
            <a:endParaRPr lang="en-US" sz="1600" dirty="0"/>
          </a:p>
        </p:txBody>
      </p:sp>
      <p:pic>
        <p:nvPicPr>
          <p:cNvPr id="4" name="training output screenshot" descr="a/tr-000.jpg">    </p:cNvPr>
          <p:cNvPicPr>
            <a:picLocks noChangeAspect="1"/>
          </p:cNvPicPr>
          <p:nvPr/>
        </p:nvPicPr>
        <p:blipFill>
          <a:blip r:embed="rId1"/>
          <a:stretch>
            <a:fillRect/>
          </a:stretch>
        </p:blipFill>
        <p:spPr>
          <a:xfrm>
            <a:off x="548640" y="960120"/>
            <a:ext cx="6309360" cy="5715000"/>
          </a:xfrm>
          <a:prstGeom prst="rect">
            <a:avLst/>
          </a:prstGeom>
        </p:spPr>
      </p:pic>
      <p:sp>
        <p:nvSpPr>
          <p:cNvPr id="5" name="Text 2"/>
          <p:cNvSpPr txBox="1"/>
          <p:nvPr/>
        </p:nvSpPr>
        <p:spPr>
          <a:xfrm>
            <a:off x="548640" y="6675120"/>
            <a:ext cx="6309360" cy="548640"/>
          </a:xfrm>
          <a:prstGeom prst="rect">
            <a:avLst/>
          </a:prstGeom>
          <a:noFill/>
          <a:ln/>
        </p:spPr>
        <p:txBody>
          <a:bodyPr wrap="square" lIns="635" tIns="635" rIns="635" bIns="635" rtlCol="0" anchor="t"/>
          <a:lstStyle/>
          <a:p>
            <a:pPr indent="0" marL="0">
              <a:buNone/>
            </a:pPr>
            <a:r>
              <a:rPr lang="en-US" sz="1100" i="1" dirty="0">
                <a:solidFill>
                  <a:schemeClr val="tx1"/>
                </a:solidFill>
              </a:rPr>
              <a:t>train_model.py: loads the data, cleans tweets, builds Word + Character TF-IDF, splits 80/20, trains the Random Forest, prints the report and saves the model and vectorizers.</a:t>
            </a:r>
            <a:endParaRPr lang="en-US" sz="1100" dirty="0"/>
          </a:p>
        </p:txBody>
      </p:sp>
      <p:sp>
        <p:nvSpPr>
          <p:cNvPr id="6" name="Text 3"/>
          <p:cNvSpPr txBox="1"/>
          <p:nvPr/>
        </p:nvSpPr>
        <p:spPr>
          <a:xfrm>
            <a:off x="7132320" y="1005840"/>
            <a:ext cx="2468880" cy="320040"/>
          </a:xfrm>
          <a:prstGeom prst="rect">
            <a:avLst/>
          </a:prstGeom>
          <a:noFill/>
          <a:ln/>
        </p:spPr>
        <p:txBody>
          <a:bodyPr wrap="square" lIns="635" tIns="635" rIns="635" bIns="635" rtlCol="0" anchor="t"/>
          <a:lstStyle/>
          <a:p>
            <a:pPr indent="0" marL="0">
              <a:buNone/>
            </a:pPr>
            <a:r>
              <a:rPr lang="en-US" sz="1400" b="1" dirty="0">
                <a:solidFill>
                  <a:schemeClr val="accent1"/>
                </a:solidFill>
              </a:rPr>
              <a:t>What the output shows</a:t>
            </a:r>
            <a:endParaRPr lang="en-US" sz="1400" dirty="0"/>
          </a:p>
        </p:txBody>
      </p:sp>
      <p:sp>
        <p:nvSpPr>
          <p:cNvPr id="7" name="card"/>
          <p:cNvSpPr/>
          <p:nvPr/>
        </p:nvSpPr>
        <p:spPr>
          <a:xfrm>
            <a:off x="7132320" y="1463040"/>
            <a:ext cx="2377440" cy="731520"/>
          </a:xfrm>
          <a:prstGeom prst="roundRect">
            <a:avLst>
              <a:gd name="adj" fmla="val 10000"/>
            </a:avLst>
          </a:prstGeom>
          <a:solidFill>
            <a:schemeClr val="bg2"/>
          </a:solidFill>
          <a:ln w="12700">
            <a:solidFill>
              <a:schemeClr val="accent2"/>
            </a:solidFill>
            <a:prstDash val="solid"/>
          </a:ln>
        </p:spPr>
      </p:sp>
      <p:sp>
        <p:nvSpPr>
          <p:cNvPr id="8" name="Text 5"/>
          <p:cNvSpPr txBox="1"/>
          <p:nvPr/>
        </p:nvSpPr>
        <p:spPr>
          <a:xfrm>
            <a:off x="7178040" y="1490472"/>
            <a:ext cx="2286000" cy="274320"/>
          </a:xfrm>
          <a:prstGeom prst="rect">
            <a:avLst/>
          </a:prstGeom>
          <a:noFill/>
          <a:ln/>
        </p:spPr>
        <p:txBody>
          <a:bodyPr wrap="square" lIns="635" tIns="635" rIns="635" bIns="635" rtlCol="0" anchor="t"/>
          <a:lstStyle/>
          <a:p>
            <a:pPr algn="ctr" indent="0" marL="0">
              <a:buNone/>
            </a:pPr>
            <a:r>
              <a:rPr lang="en-US" sz="1100" dirty="0">
                <a:solidFill>
                  <a:schemeClr val="tx1"/>
                </a:solidFill>
              </a:rPr>
              <a:t>Original rows</a:t>
            </a:r>
            <a:endParaRPr lang="en-US" sz="1100" dirty="0"/>
          </a:p>
        </p:txBody>
      </p:sp>
      <p:sp>
        <p:nvSpPr>
          <p:cNvPr id="9" name="Text 6"/>
          <p:cNvSpPr txBox="1"/>
          <p:nvPr/>
        </p:nvSpPr>
        <p:spPr>
          <a:xfrm>
            <a:off x="7178040" y="1737360"/>
            <a:ext cx="2286000" cy="411480"/>
          </a:xfrm>
          <a:prstGeom prst="rect">
            <a:avLst/>
          </a:prstGeom>
          <a:noFill/>
          <a:ln/>
        </p:spPr>
        <p:txBody>
          <a:bodyPr wrap="square" lIns="635" tIns="635" rIns="635" bIns="635" rtlCol="0" anchor="t"/>
          <a:lstStyle/>
          <a:p>
            <a:pPr algn="ctr" indent="0" marL="0">
              <a:buNone/>
            </a:pPr>
            <a:r>
              <a:rPr lang="en-US" sz="1800" b="1" dirty="0">
                <a:solidFill>
                  <a:schemeClr val="tx2"/>
                </a:solidFill>
              </a:rPr>
              <a:t>74,682</a:t>
            </a:r>
            <a:endParaRPr lang="en-US" sz="1800" dirty="0"/>
          </a:p>
        </p:txBody>
      </p:sp>
      <p:sp>
        <p:nvSpPr>
          <p:cNvPr id="10" name="card"/>
          <p:cNvSpPr/>
          <p:nvPr/>
        </p:nvSpPr>
        <p:spPr>
          <a:xfrm>
            <a:off x="7132320" y="2331720"/>
            <a:ext cx="2377440" cy="731520"/>
          </a:xfrm>
          <a:prstGeom prst="roundRect">
            <a:avLst>
              <a:gd name="adj" fmla="val 10000"/>
            </a:avLst>
          </a:prstGeom>
          <a:solidFill>
            <a:schemeClr val="bg2"/>
          </a:solidFill>
          <a:ln w="12700">
            <a:solidFill>
              <a:schemeClr val="accent2"/>
            </a:solidFill>
            <a:prstDash val="solid"/>
          </a:ln>
        </p:spPr>
      </p:sp>
      <p:sp>
        <p:nvSpPr>
          <p:cNvPr id="11" name="Text 8"/>
          <p:cNvSpPr txBox="1"/>
          <p:nvPr/>
        </p:nvSpPr>
        <p:spPr>
          <a:xfrm>
            <a:off x="7178040" y="2359152"/>
            <a:ext cx="2286000" cy="274320"/>
          </a:xfrm>
          <a:prstGeom prst="rect">
            <a:avLst/>
          </a:prstGeom>
          <a:noFill/>
          <a:ln/>
        </p:spPr>
        <p:txBody>
          <a:bodyPr wrap="square" lIns="635" tIns="635" rIns="635" bIns="635" rtlCol="0" anchor="t"/>
          <a:lstStyle/>
          <a:p>
            <a:pPr algn="ctr" indent="0" marL="0">
              <a:buNone/>
            </a:pPr>
            <a:r>
              <a:rPr lang="en-US" sz="1100" dirty="0">
                <a:solidFill>
                  <a:schemeClr val="tx1"/>
                </a:solidFill>
              </a:rPr>
              <a:t>Rows after filtering</a:t>
            </a:r>
            <a:endParaRPr lang="en-US" sz="1100" dirty="0"/>
          </a:p>
        </p:txBody>
      </p:sp>
      <p:sp>
        <p:nvSpPr>
          <p:cNvPr id="12" name="Text 9"/>
          <p:cNvSpPr txBox="1"/>
          <p:nvPr/>
        </p:nvSpPr>
        <p:spPr>
          <a:xfrm>
            <a:off x="7178040" y="2606040"/>
            <a:ext cx="2286000" cy="411480"/>
          </a:xfrm>
          <a:prstGeom prst="rect">
            <a:avLst/>
          </a:prstGeom>
          <a:noFill/>
          <a:ln/>
        </p:spPr>
        <p:txBody>
          <a:bodyPr wrap="square" lIns="635" tIns="635" rIns="635" bIns="635" rtlCol="0" anchor="t"/>
          <a:lstStyle/>
          <a:p>
            <a:pPr algn="ctr" indent="0" marL="0">
              <a:buNone/>
            </a:pPr>
            <a:r>
              <a:rPr lang="en-US" sz="1800" b="1" dirty="0">
                <a:solidFill>
                  <a:schemeClr val="tx2"/>
                </a:solidFill>
              </a:rPr>
              <a:t>61,121</a:t>
            </a:r>
            <a:endParaRPr lang="en-US" sz="1800" dirty="0"/>
          </a:p>
        </p:txBody>
      </p:sp>
      <p:sp>
        <p:nvSpPr>
          <p:cNvPr id="13" name="card"/>
          <p:cNvSpPr/>
          <p:nvPr/>
        </p:nvSpPr>
        <p:spPr>
          <a:xfrm>
            <a:off x="7132320" y="3200400"/>
            <a:ext cx="2377440" cy="731520"/>
          </a:xfrm>
          <a:prstGeom prst="roundRect">
            <a:avLst>
              <a:gd name="adj" fmla="val 10000"/>
            </a:avLst>
          </a:prstGeom>
          <a:solidFill>
            <a:schemeClr val="bg2"/>
          </a:solidFill>
          <a:ln w="12700">
            <a:solidFill>
              <a:schemeClr val="accent2"/>
            </a:solidFill>
            <a:prstDash val="solid"/>
          </a:ln>
        </p:spPr>
      </p:sp>
      <p:sp>
        <p:nvSpPr>
          <p:cNvPr id="14" name="Text 11"/>
          <p:cNvSpPr txBox="1"/>
          <p:nvPr/>
        </p:nvSpPr>
        <p:spPr>
          <a:xfrm>
            <a:off x="7178040" y="3227832"/>
            <a:ext cx="2286000" cy="274320"/>
          </a:xfrm>
          <a:prstGeom prst="rect">
            <a:avLst/>
          </a:prstGeom>
          <a:noFill/>
          <a:ln/>
        </p:spPr>
        <p:txBody>
          <a:bodyPr wrap="square" lIns="635" tIns="635" rIns="635" bIns="635" rtlCol="0" anchor="t"/>
          <a:lstStyle/>
          <a:p>
            <a:pPr algn="ctr" indent="0" marL="0">
              <a:buNone/>
            </a:pPr>
            <a:r>
              <a:rPr lang="en-US" sz="1100" dirty="0">
                <a:solidFill>
                  <a:schemeClr val="tx1"/>
                </a:solidFill>
              </a:rPr>
              <a:t>Feature shape</a:t>
            </a:r>
            <a:endParaRPr lang="en-US" sz="1100" dirty="0"/>
          </a:p>
        </p:txBody>
      </p:sp>
      <p:sp>
        <p:nvSpPr>
          <p:cNvPr id="15" name="Text 12"/>
          <p:cNvSpPr txBox="1"/>
          <p:nvPr/>
        </p:nvSpPr>
        <p:spPr>
          <a:xfrm>
            <a:off x="7178040" y="3474720"/>
            <a:ext cx="2286000" cy="411480"/>
          </a:xfrm>
          <a:prstGeom prst="rect">
            <a:avLst/>
          </a:prstGeom>
          <a:noFill/>
          <a:ln/>
        </p:spPr>
        <p:txBody>
          <a:bodyPr wrap="square" lIns="635" tIns="635" rIns="635" bIns="635" rtlCol="0" anchor="t"/>
          <a:lstStyle/>
          <a:p>
            <a:pPr algn="ctr" indent="0" marL="0">
              <a:buNone/>
            </a:pPr>
            <a:r>
              <a:rPr lang="en-US" sz="1800" b="1" dirty="0">
                <a:solidFill>
                  <a:schemeClr val="tx2"/>
                </a:solidFill>
              </a:rPr>
              <a:t>61,121 × 15,000</a:t>
            </a:r>
            <a:endParaRPr lang="en-US" sz="1800" dirty="0"/>
          </a:p>
        </p:txBody>
      </p:sp>
      <p:sp>
        <p:nvSpPr>
          <p:cNvPr id="16" name="card"/>
          <p:cNvSpPr/>
          <p:nvPr/>
        </p:nvSpPr>
        <p:spPr>
          <a:xfrm>
            <a:off x="7132320" y="4069080"/>
            <a:ext cx="2377440" cy="731520"/>
          </a:xfrm>
          <a:prstGeom prst="roundRect">
            <a:avLst>
              <a:gd name="adj" fmla="val 10000"/>
            </a:avLst>
          </a:prstGeom>
          <a:solidFill>
            <a:schemeClr val="bg2"/>
          </a:solidFill>
          <a:ln w="12700">
            <a:solidFill>
              <a:schemeClr val="accent2"/>
            </a:solidFill>
            <a:prstDash val="solid"/>
          </a:ln>
        </p:spPr>
      </p:sp>
      <p:sp>
        <p:nvSpPr>
          <p:cNvPr id="17" name="Text 14"/>
          <p:cNvSpPr txBox="1"/>
          <p:nvPr/>
        </p:nvSpPr>
        <p:spPr>
          <a:xfrm>
            <a:off x="7178040" y="4096512"/>
            <a:ext cx="2286000" cy="274320"/>
          </a:xfrm>
          <a:prstGeom prst="rect">
            <a:avLst/>
          </a:prstGeom>
          <a:noFill/>
          <a:ln/>
        </p:spPr>
        <p:txBody>
          <a:bodyPr wrap="square" lIns="635" tIns="635" rIns="635" bIns="635" rtlCol="0" anchor="t"/>
          <a:lstStyle/>
          <a:p>
            <a:pPr algn="ctr" indent="0" marL="0">
              <a:buNone/>
            </a:pPr>
            <a:r>
              <a:rPr lang="en-US" sz="1100" dirty="0">
                <a:solidFill>
                  <a:schemeClr val="tx1"/>
                </a:solidFill>
              </a:rPr>
              <a:t>Training samples</a:t>
            </a:r>
            <a:endParaRPr lang="en-US" sz="1100" dirty="0"/>
          </a:p>
        </p:txBody>
      </p:sp>
      <p:sp>
        <p:nvSpPr>
          <p:cNvPr id="18" name="Text 15"/>
          <p:cNvSpPr txBox="1"/>
          <p:nvPr/>
        </p:nvSpPr>
        <p:spPr>
          <a:xfrm>
            <a:off x="7178040" y="4343400"/>
            <a:ext cx="2286000" cy="411480"/>
          </a:xfrm>
          <a:prstGeom prst="rect">
            <a:avLst/>
          </a:prstGeom>
          <a:noFill/>
          <a:ln/>
        </p:spPr>
        <p:txBody>
          <a:bodyPr wrap="square" lIns="635" tIns="635" rIns="635" bIns="635" rtlCol="0" anchor="t"/>
          <a:lstStyle/>
          <a:p>
            <a:pPr algn="ctr" indent="0" marL="0">
              <a:buNone/>
            </a:pPr>
            <a:r>
              <a:rPr lang="en-US" sz="1800" b="1" dirty="0">
                <a:solidFill>
                  <a:schemeClr val="tx2"/>
                </a:solidFill>
              </a:rPr>
              <a:t>48,896</a:t>
            </a:r>
            <a:endParaRPr lang="en-US" sz="1800" dirty="0"/>
          </a:p>
        </p:txBody>
      </p:sp>
      <p:sp>
        <p:nvSpPr>
          <p:cNvPr id="19" name="card"/>
          <p:cNvSpPr/>
          <p:nvPr/>
        </p:nvSpPr>
        <p:spPr>
          <a:xfrm>
            <a:off x="7132320" y="4937760"/>
            <a:ext cx="2377440" cy="731520"/>
          </a:xfrm>
          <a:prstGeom prst="roundRect">
            <a:avLst>
              <a:gd name="adj" fmla="val 10000"/>
            </a:avLst>
          </a:prstGeom>
          <a:solidFill>
            <a:schemeClr val="bg2"/>
          </a:solidFill>
          <a:ln w="12700">
            <a:solidFill>
              <a:schemeClr val="accent2"/>
            </a:solidFill>
            <a:prstDash val="solid"/>
          </a:ln>
        </p:spPr>
      </p:sp>
      <p:sp>
        <p:nvSpPr>
          <p:cNvPr id="20" name="Text 17"/>
          <p:cNvSpPr txBox="1"/>
          <p:nvPr/>
        </p:nvSpPr>
        <p:spPr>
          <a:xfrm>
            <a:off x="7178040" y="4965192"/>
            <a:ext cx="2286000" cy="274320"/>
          </a:xfrm>
          <a:prstGeom prst="rect">
            <a:avLst/>
          </a:prstGeom>
          <a:noFill/>
          <a:ln/>
        </p:spPr>
        <p:txBody>
          <a:bodyPr wrap="square" lIns="635" tIns="635" rIns="635" bIns="635" rtlCol="0" anchor="t"/>
          <a:lstStyle/>
          <a:p>
            <a:pPr algn="ctr" indent="0" marL="0">
              <a:buNone/>
            </a:pPr>
            <a:r>
              <a:rPr lang="en-US" sz="1100" dirty="0">
                <a:solidFill>
                  <a:schemeClr val="tx1"/>
                </a:solidFill>
              </a:rPr>
              <a:t>Testing samples</a:t>
            </a:r>
            <a:endParaRPr lang="en-US" sz="1100" dirty="0"/>
          </a:p>
        </p:txBody>
      </p:sp>
      <p:sp>
        <p:nvSpPr>
          <p:cNvPr id="21" name="Text 18"/>
          <p:cNvSpPr txBox="1"/>
          <p:nvPr/>
        </p:nvSpPr>
        <p:spPr>
          <a:xfrm>
            <a:off x="7178040" y="5212080"/>
            <a:ext cx="2286000" cy="411480"/>
          </a:xfrm>
          <a:prstGeom prst="rect">
            <a:avLst/>
          </a:prstGeom>
          <a:noFill/>
          <a:ln/>
        </p:spPr>
        <p:txBody>
          <a:bodyPr wrap="square" lIns="635" tIns="635" rIns="635" bIns="635" rtlCol="0" anchor="t"/>
          <a:lstStyle/>
          <a:p>
            <a:pPr algn="ctr" indent="0" marL="0">
              <a:buNone/>
            </a:pPr>
            <a:r>
              <a:rPr lang="en-US" sz="1800" b="1" dirty="0">
                <a:solidFill>
                  <a:schemeClr val="tx2"/>
                </a:solidFill>
              </a:rPr>
              <a:t>12,225</a:t>
            </a:r>
            <a:endParaRPr lang="en-US" sz="1800" dirty="0"/>
          </a:p>
        </p:txBody>
      </p:sp>
      <p:sp>
        <p:nvSpPr>
          <p:cNvPr id="22" name="card"/>
          <p:cNvSpPr/>
          <p:nvPr/>
        </p:nvSpPr>
        <p:spPr>
          <a:xfrm>
            <a:off x="7132320" y="5806440"/>
            <a:ext cx="2377440" cy="731520"/>
          </a:xfrm>
          <a:prstGeom prst="roundRect">
            <a:avLst>
              <a:gd name="adj" fmla="val 10000"/>
            </a:avLst>
          </a:prstGeom>
          <a:solidFill>
            <a:srgbClr val="FFF3E8"/>
          </a:solidFill>
          <a:ln w="25400">
            <a:solidFill>
              <a:schemeClr val="accent1"/>
            </a:solidFill>
            <a:prstDash val="solid"/>
          </a:ln>
        </p:spPr>
      </p:sp>
      <p:sp>
        <p:nvSpPr>
          <p:cNvPr id="23" name="Text 20"/>
          <p:cNvSpPr txBox="1"/>
          <p:nvPr/>
        </p:nvSpPr>
        <p:spPr>
          <a:xfrm>
            <a:off x="7178040" y="5833872"/>
            <a:ext cx="2286000" cy="274320"/>
          </a:xfrm>
          <a:prstGeom prst="rect">
            <a:avLst/>
          </a:prstGeom>
          <a:noFill/>
          <a:ln/>
        </p:spPr>
        <p:txBody>
          <a:bodyPr wrap="square" lIns="635" tIns="635" rIns="635" bIns="635" rtlCol="0" anchor="t"/>
          <a:lstStyle/>
          <a:p>
            <a:pPr algn="ctr" indent="0" marL="0">
              <a:buNone/>
            </a:pPr>
            <a:r>
              <a:rPr lang="en-US" sz="1100" dirty="0">
                <a:solidFill>
                  <a:schemeClr val="tx1"/>
                </a:solidFill>
              </a:rPr>
              <a:t>Accuracy</a:t>
            </a:r>
            <a:endParaRPr lang="en-US" sz="1100" dirty="0"/>
          </a:p>
        </p:txBody>
      </p:sp>
      <p:sp>
        <p:nvSpPr>
          <p:cNvPr id="24" name="Text 21"/>
          <p:cNvSpPr txBox="1"/>
          <p:nvPr/>
        </p:nvSpPr>
        <p:spPr>
          <a:xfrm>
            <a:off x="7178040" y="6080760"/>
            <a:ext cx="2286000" cy="411480"/>
          </a:xfrm>
          <a:prstGeom prst="rect">
            <a:avLst/>
          </a:prstGeom>
          <a:noFill/>
          <a:ln/>
        </p:spPr>
        <p:txBody>
          <a:bodyPr wrap="square" lIns="635" tIns="635" rIns="635" bIns="635" rtlCol="0" anchor="t"/>
          <a:lstStyle/>
          <a:p>
            <a:pPr algn="ctr" indent="0" marL="0">
              <a:buNone/>
            </a:pPr>
            <a:r>
              <a:rPr lang="en-US" sz="1800" b="1" dirty="0">
                <a:solidFill>
                  <a:schemeClr val="accent1"/>
                </a:solidFill>
              </a:rPr>
              <a:t>90.94%</a:t>
            </a:r>
            <a:endParaRPr lang="en-US" sz="18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RESULTS</a:t>
            </a:r>
            <a:endParaRPr lang="en-US" sz="1600" dirty="0"/>
          </a:p>
        </p:txBody>
      </p:sp>
      <p:sp>
        <p:nvSpPr>
          <p:cNvPr id="4" name="accuracy"/>
          <p:cNvSpPr/>
          <p:nvPr/>
        </p:nvSpPr>
        <p:spPr>
          <a:xfrm>
            <a:off x="548640" y="1005840"/>
            <a:ext cx="2926080" cy="1554480"/>
          </a:xfrm>
          <a:prstGeom prst="roundRect">
            <a:avLst>
              <a:gd name="adj" fmla="val 4706"/>
            </a:avLst>
          </a:prstGeom>
          <a:solidFill>
            <a:srgbClr val="FFF3E8"/>
          </a:solidFill>
          <a:ln w="25400">
            <a:solidFill>
              <a:schemeClr val="accent1"/>
            </a:solidFill>
            <a:prstDash val="solid"/>
          </a:ln>
        </p:spPr>
      </p:sp>
      <p:sp>
        <p:nvSpPr>
          <p:cNvPr id="5" name="Text 3"/>
          <p:cNvSpPr txBox="1"/>
          <p:nvPr/>
        </p:nvSpPr>
        <p:spPr>
          <a:xfrm>
            <a:off x="548640" y="1097280"/>
            <a:ext cx="2926080" cy="914400"/>
          </a:xfrm>
          <a:prstGeom prst="rect">
            <a:avLst/>
          </a:prstGeom>
          <a:noFill/>
          <a:ln/>
        </p:spPr>
        <p:txBody>
          <a:bodyPr wrap="square" lIns="635" tIns="635" rIns="635" bIns="635" rtlCol="0" anchor="ctr"/>
          <a:lstStyle/>
          <a:p>
            <a:pPr algn="ctr" indent="0" marL="0">
              <a:buNone/>
            </a:pPr>
            <a:r>
              <a:rPr lang="en-US" sz="4000" b="1" dirty="0">
                <a:solidFill>
                  <a:schemeClr val="accent1"/>
                </a:solidFill>
              </a:rPr>
              <a:t>90.94%</a:t>
            </a:r>
            <a:endParaRPr lang="en-US" sz="4000" dirty="0"/>
          </a:p>
        </p:txBody>
      </p:sp>
      <p:sp>
        <p:nvSpPr>
          <p:cNvPr id="6" name="Text 4"/>
          <p:cNvSpPr txBox="1"/>
          <p:nvPr/>
        </p:nvSpPr>
        <p:spPr>
          <a:xfrm>
            <a:off x="640080" y="2011680"/>
            <a:ext cx="2743200" cy="457200"/>
          </a:xfrm>
          <a:prstGeom prst="rect">
            <a:avLst/>
          </a:prstGeom>
          <a:noFill/>
          <a:ln/>
        </p:spPr>
        <p:txBody>
          <a:bodyPr wrap="square" lIns="635" tIns="635" rIns="635" bIns="635" rtlCol="0" anchor="t"/>
          <a:lstStyle/>
          <a:p>
            <a:pPr algn="ctr" indent="0" marL="0">
              <a:buNone/>
            </a:pPr>
            <a:r>
              <a:rPr lang="en-US" sz="1200" dirty="0">
                <a:solidFill>
                  <a:schemeClr val="tx1"/>
                </a:solidFill>
              </a:rPr>
              <a:t>test accuracy on 12,225 unseen tweets</a:t>
            </a:r>
            <a:endParaRPr lang="en-US" sz="1200" dirty="0"/>
          </a:p>
        </p:txBody>
      </p:sp>
      <p:graphicFrame>
        <p:nvGraphicFramePr>
          <p:cNvPr id="14" name="classification report"/>
          <p:cNvGraphicFramePr>
            <a:graphicFrameLocks noGrp="1"/>
          </p:cNvGraphicFramePr>
          <p:nvPr>
            <p:extLst>
              <p:ext uri="{D42A27DB-BD31-4B8C-83A1-F6EECF244321}">
                <p14:modId xmlns:p14="http://schemas.microsoft.com/office/powerpoint/2010/main" val="1579011935"/>
              </p:ext>
            </p:extLst>
          </p:nvPr>
        </p:nvGraphicFramePr>
        <p:xfrm>
          <a:off x="3749040" y="1005840"/>
          <a:ext cx="5760720" cy="914400"/>
        </p:xfrm>
        <a:graphic>
          <a:graphicData uri="http://schemas.openxmlformats.org/drawingml/2006/table">
            <a:tbl>
              <a:tblPr/>
              <a:tblGrid>
                <a:gridCol w="1280160"/>
                <a:gridCol w="1097280"/>
                <a:gridCol w="1097280"/>
                <a:gridCol w="1097280"/>
                <a:gridCol w="1188720"/>
              </a:tblGrid>
              <a:tr h="310896">
                <a:tc>
                  <a:txBody>
                    <a:bodyPr/>
                    <a:lstStyle/>
                    <a:p>
                      <a:pPr algn="ctr" indent="0" marL="0">
                        <a:buNone/>
                      </a:pPr>
                      <a:r>
                        <a:rPr lang="en-US" sz="1300" b="1" dirty="0">
                          <a:solidFill>
                            <a:schemeClr val="bg1"/>
                          </a:solidFill>
                        </a:rPr>
                        <a:t>Class</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bg1"/>
                          </a:solidFill>
                        </a:rPr>
                        <a:t>Precision</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bg1"/>
                          </a:solidFill>
                        </a:rPr>
                        <a:t>Recall</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bg1"/>
                          </a:solidFill>
                        </a:rPr>
                        <a:t>F1</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bg1"/>
                          </a:solidFill>
                        </a:rPr>
                        <a:t>Support</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r>
              <a:tr h="310896">
                <a:tc>
                  <a:txBody>
                    <a:bodyPr/>
                    <a:lstStyle/>
                    <a:p>
                      <a:pPr algn="ctr" indent="0" marL="0">
                        <a:buNone/>
                      </a:pPr>
                      <a:r>
                        <a:rPr lang="en-US" sz="1300" b="1" dirty="0">
                          <a:solidFill>
                            <a:srgbClr val="000000"/>
                          </a:solidFill>
                        </a:rPr>
                        <a:t>Positive</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0.92</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0.90</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0.91</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4,131</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10896">
                <a:tc>
                  <a:txBody>
                    <a:bodyPr/>
                    <a:lstStyle/>
                    <a:p>
                      <a:pPr algn="ctr" indent="0" marL="0">
                        <a:buNone/>
                      </a:pPr>
                      <a:r>
                        <a:rPr lang="en-US" sz="1300" b="1" dirty="0">
                          <a:solidFill>
                            <a:srgbClr val="000000"/>
                          </a:solidFill>
                        </a:rPr>
                        <a:t>Negative</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0.89</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0.94</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0.91</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4,472</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10896">
                <a:tc>
                  <a:txBody>
                    <a:bodyPr/>
                    <a:lstStyle/>
                    <a:p>
                      <a:pPr algn="ctr" indent="0" marL="0">
                        <a:buNone/>
                      </a:pPr>
                      <a:r>
                        <a:rPr lang="en-US" sz="1300" b="1" dirty="0">
                          <a:solidFill>
                            <a:srgbClr val="000000"/>
                          </a:solidFill>
                        </a:rPr>
                        <a:t>Neutral</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0.92</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0.89</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0.90</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3,622</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10896">
                <a:tc>
                  <a:txBody>
                    <a:bodyPr/>
                    <a:lstStyle/>
                    <a:p>
                      <a:pPr algn="ctr" indent="0" marL="0">
                        <a:buNone/>
                      </a:pPr>
                      <a:r>
                        <a:rPr lang="en-US" sz="1300" b="1" dirty="0">
                          <a:solidFill>
                            <a:srgbClr val="000000"/>
                          </a:solidFill>
                        </a:rPr>
                        <a:t>Macro avg</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0.91</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0.91</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0.91</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algn="ctr" indent="0" marL="0">
                        <a:buNone/>
                      </a:pPr>
                      <a:r>
                        <a:rPr lang="en-US" sz="1300" dirty="0">
                          <a:solidFill>
                            <a:srgbClr val="000000"/>
                          </a:solidFill>
                        </a:rPr>
                        <a:t>12,225</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graphicFrame>
        <p:nvGraphicFramePr>
          <p:cNvPr id="8" name="Chart 0" descr=""/>
          <p:cNvGraphicFramePr/>
          <p:nvPr/>
        </p:nvGraphicFramePr>
        <p:xfrm>
          <a:off x="548640" y="2880360"/>
          <a:ext cx="8961120" cy="292608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48640" y="5943600"/>
            <a:ext cx="8961120" cy="1280160"/>
          </a:xfrm>
          <a:prstGeom prst="rect">
            <a:avLst/>
          </a:prstGeom>
          <a:noFill/>
          <a:ln/>
        </p:spPr>
        <p:txBody>
          <a:bodyPr wrap="square" lIns="635" tIns="635" rIns="635" bIns="635" rtlCol="0" anchor="t"/>
          <a:lstStyle/>
          <a:p>
            <a:pPr marL="342900" indent="-342900">
              <a:spcAft>
                <a:spcPts val="300"/>
              </a:spcAft>
              <a:buSzPct val="100000"/>
              <a:buChar char="•"/>
            </a:pPr>
            <a:r>
              <a:rPr lang="en-US" sz="1300" dirty="0">
                <a:solidFill>
                  <a:schemeClr val="tx1"/>
                </a:solidFill>
              </a:rPr>
              <a:t>All three classes perform at a similar level (F1 0.90–0.91); macro and weighted averages are both 0.91.</a:t>
            </a:r>
            <a:endParaRPr lang="en-US" sz="1300" dirty="0"/>
          </a:p>
          <a:p>
            <a:pPr marL="342900" indent="-342900">
              <a:spcAft>
                <a:spcPts val="300"/>
              </a:spcAft>
              <a:buSzPct val="100000"/>
              <a:buChar char="•"/>
            </a:pPr>
            <a:r>
              <a:rPr lang="en-US" sz="1300" dirty="0">
                <a:solidFill>
                  <a:schemeClr val="tx1"/>
                </a:solidFill>
              </a:rPr>
              <a:t>Negative has the highest recall (0.94) but the lowest precision (0.89): some other tweets are also labelled Negative.</a:t>
            </a:r>
            <a:endParaRPr lang="en-US" sz="1300" dirty="0"/>
          </a:p>
          <a:p>
            <a:pPr marL="342900" indent="-342900">
              <a:spcAft>
                <a:spcPts val="300"/>
              </a:spcAft>
              <a:buSzPct val="100000"/>
              <a:buChar char="•"/>
            </a:pPr>
            <a:r>
              <a:rPr lang="en-US" sz="1300" dirty="0">
                <a:solidFill>
                  <a:schemeClr val="tx1"/>
                </a:solidFill>
              </a:rPr>
              <a:t>Neutral has the lowest recall (0.89), a common difficulty because neutral text lies between the polar classes.</a:t>
            </a:r>
            <a:endParaRPr lang="en-US" sz="13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CONFUSION MATRIX</a:t>
            </a:r>
            <a:endParaRPr lang="en-US" sz="1600" dirty="0"/>
          </a:p>
        </p:txBody>
      </p:sp>
      <p:graphicFrame>
        <p:nvGraphicFramePr>
          <p:cNvPr id="15" name="confusion matrix"/>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1463040"/>
                <a:gridCol w="1097280"/>
                <a:gridCol w="1097280"/>
                <a:gridCol w="1097280"/>
                <a:gridCol w="1097280"/>
              </a:tblGrid>
              <a:tr h="640080">
                <a:tc>
                  <a:txBody>
                    <a:bodyPr/>
                    <a:lstStyle/>
                    <a:p>
                      <a:pPr algn="ctr" indent="0" marL="0">
                        <a:buNone/>
                      </a:pPr>
                      <a:r>
                        <a:rPr lang="en-US" sz="1200" b="1" dirty="0">
                          <a:solidFill>
                            <a:schemeClr val="bg1"/>
                          </a:solidFill>
                        </a:rPr>
                        <a:t>Actual \ Predicted</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Irrelevant</a:t>
                      </a:r>
                      <a:endParaRPr lang="en-US"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b="1" dirty="0">
                          <a:solidFill>
                            <a:schemeClr val="bg1"/>
                          </a:solidFill>
                        </a:rPr>
                        <a:t>Negative</a:t>
                      </a:r>
                      <a:endParaRPr lang="en-US"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b="1" dirty="0">
                          <a:solidFill>
                            <a:schemeClr val="bg1"/>
                          </a:solidFill>
                        </a:rPr>
                        <a:t>Neutral</a:t>
                      </a:r>
                      <a:endParaRPr lang="en-US"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b="1" dirty="0">
                          <a:solidFill>
                            <a:schemeClr val="bg1"/>
                          </a:solidFill>
                        </a:rPr>
                        <a:t>Positive</a:t>
                      </a:r>
                      <a:endParaRPr lang="en-US"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r>
              <a:tr h="914400">
                <a:tc>
                  <a:txBody>
                    <a:bodyPr/>
                    <a:lstStyle/>
                    <a:p>
                      <a:pPr algn="ctr" indent="0" marL="0">
                        <a:buNone/>
                      </a:pPr>
                      <a:r>
                        <a:rPr lang="en-US" sz="1600" b="1" dirty="0">
                          <a:solidFill>
                            <a:schemeClr val="bg1"/>
                          </a:solidFill>
                        </a:rPr>
                        <a:t>Irrelevant</a:t>
                      </a:r>
                      <a:endParaRPr lang="en-US"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2000" b="1" dirty="0">
                          <a:solidFill>
                            <a:schemeClr val="bg1"/>
                          </a:solidFill>
                        </a:rPr>
                        <a:t>2,020</a:t>
                      </a:r>
                      <a:endParaRPr lang="en-US" sz="20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98AD"/>
                    </a:solidFill>
                  </a:tcPr>
                </a:tc>
                <a:tc>
                  <a:txBody>
                    <a:bodyPr/>
                    <a:lstStyle/>
                    <a:p>
                      <a:pPr algn="ctr" indent="0" marL="0">
                        <a:buNone/>
                      </a:pPr>
                      <a:r>
                        <a:rPr lang="en-US" sz="1700" dirty="0">
                          <a:solidFill>
                            <a:schemeClr val="tx1"/>
                          </a:solidFill>
                        </a:rPr>
                        <a:t>180</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EF3"/>
                    </a:solidFill>
                  </a:tcPr>
                </a:tc>
                <a:tc>
                  <a:txBody>
                    <a:bodyPr/>
                    <a:lstStyle/>
                    <a:p>
                      <a:pPr algn="ctr" indent="0" marL="0">
                        <a:buNone/>
                      </a:pPr>
                      <a:r>
                        <a:rPr lang="en-US" sz="1700" dirty="0">
                          <a:solidFill>
                            <a:schemeClr val="tx1"/>
                          </a:solidFill>
                        </a:rPr>
                        <a:t>176</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EF3"/>
                    </a:solidFill>
                  </a:tcPr>
                </a:tc>
                <a:tc>
                  <a:txBody>
                    <a:bodyPr/>
                    <a:lstStyle/>
                    <a:p>
                      <a:pPr algn="ctr" indent="0" marL="0">
                        <a:buNone/>
                      </a:pPr>
                      <a:r>
                        <a:rPr lang="en-US" sz="1700" dirty="0">
                          <a:solidFill>
                            <a:schemeClr val="tx1"/>
                          </a:solidFill>
                        </a:rPr>
                        <a:t>199</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DF2"/>
                    </a:solidFill>
                  </a:tcPr>
                </a:tc>
              </a:tr>
              <a:tr h="914400">
                <a:tc>
                  <a:txBody>
                    <a:bodyPr/>
                    <a:lstStyle/>
                    <a:p>
                      <a:pPr algn="ctr" indent="0" marL="0">
                        <a:buNone/>
                      </a:pPr>
                      <a:r>
                        <a:rPr lang="en-US" sz="1600" b="1" dirty="0">
                          <a:solidFill>
                            <a:schemeClr val="bg1"/>
                          </a:solidFill>
                        </a:rPr>
                        <a:t>Negative</a:t>
                      </a:r>
                      <a:endParaRPr lang="en-US"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700" dirty="0">
                          <a:solidFill>
                            <a:schemeClr val="tx1"/>
                          </a:solidFill>
                        </a:rPr>
                        <a:t>29</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2000" b="1" dirty="0">
                          <a:solidFill>
                            <a:schemeClr val="bg1"/>
                          </a:solidFill>
                        </a:rPr>
                        <a:t>4,106</a:t>
                      </a:r>
                      <a:endParaRPr lang="en-US" sz="20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375E"/>
                    </a:solidFill>
                  </a:tcPr>
                </a:tc>
                <a:tc>
                  <a:txBody>
                    <a:bodyPr/>
                    <a:lstStyle/>
                    <a:p>
                      <a:pPr algn="ctr" indent="0" marL="0">
                        <a:buNone/>
                      </a:pPr>
                      <a:r>
                        <a:rPr lang="en-US" sz="1700" dirty="0">
                          <a:solidFill>
                            <a:schemeClr val="tx1"/>
                          </a:solidFill>
                        </a:rPr>
                        <a:t>177</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EF3"/>
                    </a:solidFill>
                  </a:tcPr>
                </a:tc>
                <a:tc>
                  <a:txBody>
                    <a:bodyPr/>
                    <a:lstStyle/>
                    <a:p>
                      <a:pPr algn="ctr" indent="0" marL="0">
                        <a:buNone/>
                      </a:pPr>
                      <a:r>
                        <a:rPr lang="en-US" sz="1700" dirty="0">
                          <a:solidFill>
                            <a:schemeClr val="tx1"/>
                          </a:solidFill>
                        </a:rPr>
                        <a:t>160</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4"/>
                    </a:solidFill>
                  </a:tcPr>
                </a:tc>
              </a:tr>
              <a:tr h="914400">
                <a:tc>
                  <a:txBody>
                    <a:bodyPr/>
                    <a:lstStyle/>
                    <a:p>
                      <a:pPr algn="ctr" indent="0" marL="0">
                        <a:buNone/>
                      </a:pPr>
                      <a:r>
                        <a:rPr lang="en-US" sz="1600" b="1" dirty="0">
                          <a:solidFill>
                            <a:schemeClr val="bg1"/>
                          </a:solidFill>
                        </a:rPr>
                        <a:t>Neutral</a:t>
                      </a:r>
                      <a:endParaRPr lang="en-US"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700" dirty="0">
                          <a:solidFill>
                            <a:schemeClr val="tx1"/>
                          </a:solidFill>
                        </a:rPr>
                        <a:t>27</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US" sz="1700" dirty="0">
                          <a:solidFill>
                            <a:schemeClr val="tx1"/>
                          </a:solidFill>
                        </a:rPr>
                        <a:t>231</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F1"/>
                    </a:solidFill>
                  </a:tcPr>
                </a:tc>
                <a:tc>
                  <a:txBody>
                    <a:bodyPr/>
                    <a:lstStyle/>
                    <a:p>
                      <a:pPr algn="ctr" indent="0" marL="0">
                        <a:buNone/>
                      </a:pPr>
                      <a:r>
                        <a:rPr lang="en-US" sz="2000" b="1" dirty="0">
                          <a:solidFill>
                            <a:schemeClr val="bg1"/>
                          </a:solidFill>
                        </a:rPr>
                        <a:t>3,177</a:t>
                      </a:r>
                      <a:endParaRPr lang="en-US" sz="20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6281"/>
                    </a:solidFill>
                  </a:tcPr>
                </a:tc>
                <a:tc>
                  <a:txBody>
                    <a:bodyPr/>
                    <a:lstStyle/>
                    <a:p>
                      <a:pPr algn="ctr" indent="0" marL="0">
                        <a:buNone/>
                      </a:pPr>
                      <a:r>
                        <a:rPr lang="en-US" sz="1700" dirty="0">
                          <a:solidFill>
                            <a:schemeClr val="tx1"/>
                          </a:solidFill>
                        </a:rPr>
                        <a:t>187</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3"/>
                    </a:solidFill>
                  </a:tcPr>
                </a:tc>
              </a:tr>
              <a:tr h="914400">
                <a:tc>
                  <a:txBody>
                    <a:bodyPr/>
                    <a:lstStyle/>
                    <a:p>
                      <a:pPr algn="ctr" indent="0" marL="0">
                        <a:buNone/>
                      </a:pPr>
                      <a:r>
                        <a:rPr lang="en-US" sz="1600" b="1" dirty="0">
                          <a:solidFill>
                            <a:schemeClr val="bg1"/>
                          </a:solidFill>
                        </a:rPr>
                        <a:t>Positive</a:t>
                      </a:r>
                      <a:endParaRPr lang="en-US"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700" dirty="0">
                          <a:solidFill>
                            <a:schemeClr val="tx1"/>
                          </a:solidFill>
                        </a:rPr>
                        <a:t>29</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700" dirty="0">
                          <a:solidFill>
                            <a:schemeClr val="tx1"/>
                          </a:solidFill>
                        </a:rPr>
                        <a:t>221</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CF2"/>
                    </a:solidFill>
                  </a:tcPr>
                </a:tc>
                <a:tc>
                  <a:txBody>
                    <a:bodyPr/>
                    <a:lstStyle/>
                    <a:p>
                      <a:pPr algn="ctr" indent="0" marL="0">
                        <a:buNone/>
                      </a:pPr>
                      <a:r>
                        <a:rPr lang="en-US" sz="1700" dirty="0">
                          <a:solidFill>
                            <a:schemeClr val="tx1"/>
                          </a:solidFill>
                        </a:rPr>
                        <a:t>203</a:t>
                      </a:r>
                      <a:endParaRPr lang="en-US" sz="17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DF2"/>
                    </a:solidFill>
                  </a:tcPr>
                </a:tc>
                <a:tc>
                  <a:txBody>
                    <a:bodyPr/>
                    <a:lstStyle/>
                    <a:p>
                      <a:pPr algn="ctr" indent="0" marL="0">
                        <a:buNone/>
                      </a:pPr>
                      <a:r>
                        <a:rPr lang="en-US" sz="2000" b="1" dirty="0">
                          <a:solidFill>
                            <a:schemeClr val="bg1"/>
                          </a:solidFill>
                        </a:rPr>
                        <a:t>3,678</a:t>
                      </a:r>
                      <a:endParaRPr lang="en-US" sz="20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4B6E"/>
                    </a:solidFill>
                  </a:tcPr>
                </a:tc>
              </a:tr>
            </a:tbl>
          </a:graphicData>
        </a:graphic>
      </p:graphicFrame>
      <p:sp>
        <p:nvSpPr>
          <p:cNvPr id="5" name="Text 2"/>
          <p:cNvSpPr txBox="1"/>
          <p:nvPr/>
        </p:nvSpPr>
        <p:spPr>
          <a:xfrm>
            <a:off x="548640" y="5806440"/>
            <a:ext cx="5852160" cy="457200"/>
          </a:xfrm>
          <a:prstGeom prst="rect">
            <a:avLst/>
          </a:prstGeom>
          <a:noFill/>
          <a:ln/>
        </p:spPr>
        <p:txBody>
          <a:bodyPr wrap="square" lIns="635" tIns="635" rIns="635" bIns="635" rtlCol="0" anchor="t"/>
          <a:lstStyle/>
          <a:p>
            <a:pPr indent="0" marL="0">
              <a:buNone/>
            </a:pPr>
            <a:r>
              <a:rPr lang="en-US" sz="1200" i="1" dirty="0">
                <a:solidFill>
                  <a:schemeClr val="tx2"/>
                </a:solidFill>
              </a:rPr>
              <a:t>Rows = actual class, columns = predicted class. Darker cells hold more tweets.</a:t>
            </a:r>
            <a:endParaRPr lang="en-US" sz="1200" dirty="0"/>
          </a:p>
        </p:txBody>
      </p:sp>
      <p:sp>
        <p:nvSpPr>
          <p:cNvPr id="6" name="Text 3"/>
          <p:cNvSpPr txBox="1"/>
          <p:nvPr/>
        </p:nvSpPr>
        <p:spPr>
          <a:xfrm>
            <a:off x="6720840" y="1371600"/>
            <a:ext cx="2743200" cy="320040"/>
          </a:xfrm>
          <a:prstGeom prst="rect">
            <a:avLst/>
          </a:prstGeom>
          <a:noFill/>
          <a:ln/>
        </p:spPr>
        <p:txBody>
          <a:bodyPr wrap="square" lIns="635" tIns="635" rIns="635" bIns="635" rtlCol="0" anchor="t"/>
          <a:lstStyle/>
          <a:p>
            <a:pPr indent="0" marL="0">
              <a:buNone/>
            </a:pPr>
            <a:r>
              <a:rPr lang="en-US" sz="1400" b="1" dirty="0">
                <a:solidFill>
                  <a:schemeClr val="accent1"/>
                </a:solidFill>
              </a:rPr>
              <a:t>How to read it</a:t>
            </a:r>
            <a:endParaRPr lang="en-US" sz="1400" dirty="0"/>
          </a:p>
        </p:txBody>
      </p:sp>
      <p:sp>
        <p:nvSpPr>
          <p:cNvPr id="7" name="reading"/>
          <p:cNvSpPr/>
          <p:nvPr/>
        </p:nvSpPr>
        <p:spPr>
          <a:xfrm>
            <a:off x="6720840" y="1783080"/>
            <a:ext cx="2788920" cy="3977640"/>
          </a:xfrm>
          <a:prstGeom prst="roundRect">
            <a:avLst>
              <a:gd name="adj" fmla="val 2623"/>
            </a:avLst>
          </a:prstGeom>
          <a:solidFill>
            <a:schemeClr val="bg2"/>
          </a:solidFill>
          <a:ln w="19050">
            <a:solidFill>
              <a:schemeClr val="accent2"/>
            </a:solidFill>
            <a:prstDash val="solid"/>
          </a:ln>
        </p:spPr>
      </p:sp>
      <p:sp>
        <p:nvSpPr>
          <p:cNvPr id="8" name="Text 5"/>
          <p:cNvSpPr txBox="1"/>
          <p:nvPr/>
        </p:nvSpPr>
        <p:spPr>
          <a:xfrm>
            <a:off x="6858000" y="1874520"/>
            <a:ext cx="2560320" cy="3749040"/>
          </a:xfrm>
          <a:prstGeom prst="rect">
            <a:avLst/>
          </a:prstGeom>
          <a:noFill/>
          <a:ln/>
        </p:spPr>
        <p:txBody>
          <a:bodyPr wrap="square" lIns="635" tIns="635" rIns="635" bIns="635" rtlCol="0" anchor="t"/>
          <a:lstStyle/>
          <a:p>
            <a:pPr indent="0" marL="0">
              <a:buNone/>
            </a:pPr>
            <a:r>
              <a:rPr lang="en-US" sz="1300" b="1" dirty="0">
                <a:solidFill>
                  <a:schemeClr val="accent3"/>
                </a:solidFill>
              </a:rPr>
              <a:t>Diagonal = correct</a:t>
            </a:r>
            <a:endParaRPr lang="en-US" sz="1300" dirty="0"/>
          </a:p>
          <a:p>
            <a:pPr indent="0" marL="0">
              <a:spcAft>
                <a:spcPts val="1200"/>
              </a:spcAft>
              <a:buNone/>
            </a:pPr>
            <a:r>
              <a:rPr lang="en-US" sz="1300" dirty="0">
                <a:solidFill>
                  <a:schemeClr val="tx1"/>
                </a:solidFill>
              </a:rPr>
              <a:t>2,020 · 4,106 · 3,177 · 3,678 tweets were classified correctly.</a:t>
            </a:r>
            <a:endParaRPr lang="en-US" sz="1300" dirty="0"/>
          </a:p>
          <a:p>
            <a:pPr indent="0" marL="0">
              <a:buNone/>
            </a:pPr>
            <a:r>
              <a:rPr lang="en-US" sz="1300" b="1" dirty="0">
                <a:solidFill>
                  <a:schemeClr val="accent4"/>
                </a:solidFill>
              </a:rPr>
              <a:t>Largest confusions</a:t>
            </a:r>
            <a:endParaRPr lang="en-US" sz="1300" dirty="0"/>
          </a:p>
          <a:p>
            <a:pPr indent="0" marL="0">
              <a:spcAft>
                <a:spcPts val="1200"/>
              </a:spcAft>
              <a:buNone/>
            </a:pPr>
            <a:r>
              <a:rPr lang="en-US" sz="1300" dirty="0">
                <a:solidFill>
                  <a:schemeClr val="tx1"/>
                </a:solidFill>
              </a:rPr>
              <a:t>Neutral → Negative: 231</a:t>
            </a:r>
            <a:endParaRPr lang="en-US" sz="1300" dirty="0"/>
          </a:p>
          <a:p>
            <a:pPr indent="0" marL="0">
              <a:spcAft>
                <a:spcPts val="1200"/>
              </a:spcAft>
              <a:buNone/>
            </a:pPr>
            <a:r>
              <a:rPr lang="en-US" sz="1300" dirty="0">
                <a:solidFill>
                  <a:schemeClr val="tx1"/>
                </a:solidFill>
              </a:rPr>
              <a:t>Positive → Negative: 221</a:t>
            </a:r>
            <a:endParaRPr lang="en-US" sz="1300" dirty="0"/>
          </a:p>
          <a:p>
            <a:pPr indent="0" marL="0">
              <a:spcAft>
                <a:spcPts val="1200"/>
              </a:spcAft>
              <a:buNone/>
            </a:pPr>
            <a:r>
              <a:rPr lang="en-US" sz="1300" dirty="0">
                <a:solidFill>
                  <a:schemeClr val="tx1"/>
                </a:solidFill>
              </a:rPr>
              <a:t>Positive → Neutral: 203</a:t>
            </a:r>
            <a:endParaRPr lang="en-US" sz="1300" dirty="0"/>
          </a:p>
          <a:p>
            <a:pPr indent="0" marL="0">
              <a:buNone/>
            </a:pPr>
            <a:r>
              <a:rPr lang="en-US" sz="1300" b="1" dirty="0">
                <a:solidFill>
                  <a:schemeClr val="tx2"/>
                </a:solidFill>
              </a:rPr>
              <a:t>Row totals</a:t>
            </a:r>
            <a:endParaRPr lang="en-US" sz="1300" dirty="0"/>
          </a:p>
          <a:p>
            <a:pPr indent="0" marL="0">
              <a:buNone/>
            </a:pPr>
            <a:r>
              <a:rPr lang="en-US" sz="1300" dirty="0">
                <a:solidFill>
                  <a:schemeClr val="tx1"/>
                </a:solidFill>
              </a:rPr>
              <a:t>Negative 4,472 · Neutral 3,622 · Positive 4,131 tweets.</a:t>
            </a:r>
            <a:endParaRPr lang="en-US" sz="1300" dirty="0"/>
          </a:p>
        </p:txBody>
      </p:sp>
      <p:sp>
        <p:nvSpPr>
          <p:cNvPr id="9" name="Text 6"/>
          <p:cNvSpPr txBox="1"/>
          <p:nvPr/>
        </p:nvSpPr>
        <p:spPr>
          <a:xfrm>
            <a:off x="548640" y="6309360"/>
            <a:ext cx="8961120" cy="640080"/>
          </a:xfrm>
          <a:prstGeom prst="rect">
            <a:avLst/>
          </a:prstGeom>
          <a:noFill/>
          <a:ln/>
        </p:spPr>
        <p:txBody>
          <a:bodyPr wrap="square" lIns="635" tIns="635" rIns="635" bIns="635" rtlCol="0" anchor="t"/>
          <a:lstStyle/>
          <a:p>
            <a:pPr indent="0" marL="0">
              <a:buNone/>
            </a:pPr>
            <a:r>
              <a:rPr lang="en-US" sz="1400" b="1" dirty="0">
                <a:solidFill>
                  <a:schemeClr val="tx2"/>
                </a:solidFill>
              </a:rPr>
              <a:t>In every row the diagonal cell is the largest, so each class is predicted correctly more often than any other class.</a:t>
            </a:r>
            <a:endParaRPr lang="en-US" sz="14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APPLICATION OUTPUT &amp; TESTING</a:t>
            </a:r>
            <a:endParaRPr lang="en-US" sz="1600" dirty="0"/>
          </a:p>
        </p:txBody>
      </p:sp>
      <p:pic>
        <p:nvPicPr>
          <p:cNvPr id="4" name="positive output" descr="a/positive.jpeg">    </p:cNvPr>
          <p:cNvPicPr>
            <a:picLocks noChangeAspect="1"/>
          </p:cNvPicPr>
          <p:nvPr/>
        </p:nvPicPr>
        <p:blipFill>
          <a:blip r:embed="rId1"/>
          <a:stretch>
            <a:fillRect/>
          </a:stretch>
        </p:blipFill>
        <p:spPr>
          <a:xfrm>
            <a:off x="548640" y="960120"/>
            <a:ext cx="4389120" cy="2075688"/>
          </a:xfrm>
          <a:prstGeom prst="rect">
            <a:avLst/>
          </a:prstGeom>
        </p:spPr>
      </p:pic>
      <p:pic>
        <p:nvPicPr>
          <p:cNvPr id="5" name="negative output" descr="a/negative.jpeg">    </p:cNvPr>
          <p:cNvPicPr>
            <a:picLocks noChangeAspect="1"/>
          </p:cNvPicPr>
          <p:nvPr/>
        </p:nvPicPr>
        <p:blipFill>
          <a:blip r:embed="rId2"/>
          <a:stretch>
            <a:fillRect/>
          </a:stretch>
        </p:blipFill>
        <p:spPr>
          <a:xfrm>
            <a:off x="5120640" y="960120"/>
            <a:ext cx="4389120" cy="2084832"/>
          </a:xfrm>
          <a:prstGeom prst="rect">
            <a:avLst/>
          </a:prstGeom>
        </p:spPr>
      </p:pic>
      <p:sp>
        <p:nvSpPr>
          <p:cNvPr id="6" name="Text 2"/>
          <p:cNvSpPr txBox="1"/>
          <p:nvPr/>
        </p:nvSpPr>
        <p:spPr>
          <a:xfrm>
            <a:off x="548640" y="3063240"/>
            <a:ext cx="4389120" cy="320040"/>
          </a:xfrm>
          <a:prstGeom prst="rect">
            <a:avLst/>
          </a:prstGeom>
          <a:noFill/>
          <a:ln/>
        </p:spPr>
        <p:txBody>
          <a:bodyPr wrap="square" lIns="635" tIns="635" rIns="635" bIns="635" rtlCol="0" anchor="t"/>
          <a:lstStyle/>
          <a:p>
            <a:pPr algn="ctr" indent="0" marL="0">
              <a:buNone/>
            </a:pPr>
            <a:r>
              <a:rPr lang="en-US" sz="1200" i="1" dirty="0">
                <a:solidFill>
                  <a:schemeClr val="tx1"/>
                </a:solidFill>
              </a:rPr>
              <a:t>“i love this product” → Positive</a:t>
            </a:r>
            <a:endParaRPr lang="en-US" sz="1200" dirty="0"/>
          </a:p>
        </p:txBody>
      </p:sp>
      <p:sp>
        <p:nvSpPr>
          <p:cNvPr id="7" name="Text 3"/>
          <p:cNvSpPr txBox="1"/>
          <p:nvPr/>
        </p:nvSpPr>
        <p:spPr>
          <a:xfrm>
            <a:off x="5120640" y="3063240"/>
            <a:ext cx="4389120" cy="320040"/>
          </a:xfrm>
          <a:prstGeom prst="rect">
            <a:avLst/>
          </a:prstGeom>
          <a:noFill/>
          <a:ln/>
        </p:spPr>
        <p:txBody>
          <a:bodyPr wrap="square" lIns="635" tIns="635" rIns="635" bIns="635" rtlCol="0" anchor="t"/>
          <a:lstStyle/>
          <a:p>
            <a:pPr algn="ctr" indent="0" marL="0">
              <a:buNone/>
            </a:pPr>
            <a:r>
              <a:rPr lang="en-US" sz="1200" i="1" dirty="0">
                <a:solidFill>
                  <a:schemeClr val="tx1"/>
                </a:solidFill>
              </a:rPr>
              <a:t>“product is good but not working” → Negative</a:t>
            </a:r>
            <a:endParaRPr lang="en-US" sz="1200" dirty="0"/>
          </a:p>
        </p:txBody>
      </p:sp>
      <p:graphicFrame>
        <p:nvGraphicFramePr>
          <p:cNvPr id="16" name="test table"/>
          <p:cNvGraphicFramePr>
            <a:graphicFrameLocks noGrp="1"/>
          </p:cNvGraphicFramePr>
          <p:nvPr>
            <p:extLst>
              <p:ext uri="{D42A27DB-BD31-4B8C-83A1-F6EECF244321}">
                <p14:modId xmlns:p14="http://schemas.microsoft.com/office/powerpoint/2010/main" val="1579011935"/>
              </p:ext>
            </p:extLst>
          </p:nvPr>
        </p:nvGraphicFramePr>
        <p:xfrm>
          <a:off x="548640" y="3566160"/>
          <a:ext cx="8961120" cy="914400"/>
        </p:xfrm>
        <a:graphic>
          <a:graphicData uri="http://schemas.openxmlformats.org/drawingml/2006/table">
            <a:tbl>
              <a:tblPr/>
              <a:tblGrid>
                <a:gridCol w="4206240"/>
                <a:gridCol w="2926080"/>
                <a:gridCol w="1828800"/>
              </a:tblGrid>
              <a:tr h="384048">
                <a:tc>
                  <a:txBody>
                    <a:bodyPr/>
                    <a:lstStyle/>
                    <a:p>
                      <a:pPr indent="0" marL="0">
                        <a:buNone/>
                      </a:pPr>
                      <a:r>
                        <a:rPr lang="en-US" sz="1300" b="1" dirty="0">
                          <a:solidFill>
                            <a:schemeClr val="bg1"/>
                          </a:solidFill>
                        </a:rPr>
                        <a:t>Input (unseen text)</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bg1"/>
                          </a:solidFill>
                        </a:rPr>
                        <a:t>Predicted</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bg1"/>
                          </a:solidFill>
                        </a:rPr>
                        <a:t>Source</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chemeClr val="accent2"/>
                    </a:solidFill>
                  </a:tcPr>
                </a:tc>
              </a:tr>
              <a:tr h="384048">
                <a:tc>
                  <a:txBody>
                    <a:bodyPr/>
                    <a:lstStyle/>
                    <a:p>
                      <a:pPr indent="0" marL="0">
                        <a:buNone/>
                      </a:pPr>
                      <a:r>
                        <a:rPr lang="en-US" sz="1300" dirty="0">
                          <a:solidFill>
                            <a:srgbClr val="000000"/>
                          </a:solidFill>
                        </a:rPr>
                        <a:t>I really love this game</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000000"/>
                          </a:solidFill>
                        </a:rPr>
                        <a:t>Positive</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b="1" dirty="0">
                          <a:solidFill>
                            <a:schemeClr val="accent3"/>
                          </a:solidFill>
                        </a:rPr>
                        <a:t>Reported</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300" dirty="0">
                          <a:solidFill>
                            <a:srgbClr val="000000"/>
                          </a:solidFill>
                        </a:rPr>
                        <a:t>I hate this product</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000000"/>
                          </a:solidFill>
                        </a:rPr>
                        <a:t>Negative</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b="1" dirty="0">
                          <a:solidFill>
                            <a:schemeClr val="accent3"/>
                          </a:solidFill>
                        </a:rPr>
                        <a:t>Reported</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300" dirty="0">
                          <a:solidFill>
                            <a:srgbClr val="000000"/>
                          </a:solidFill>
                        </a:rPr>
                        <a:t>The game is okay</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000000"/>
                          </a:solidFill>
                        </a:rPr>
                        <a:t>Neutral</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b="1" dirty="0">
                          <a:solidFill>
                            <a:schemeClr val="accent3"/>
                          </a:solidFill>
                        </a:rPr>
                        <a:t>Reported</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300" dirty="0">
                          <a:solidFill>
                            <a:srgbClr val="000000"/>
                          </a:solidFill>
                        </a:rPr>
                        <a:t>i love this product</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000000"/>
                          </a:solidFill>
                        </a:rPr>
                        <a:t>Positive</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b="1" dirty="0">
                          <a:solidFill>
                            <a:schemeClr val="accent3"/>
                          </a:solidFill>
                        </a:rPr>
                        <a:t>Screenshot</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300" dirty="0">
                          <a:solidFill>
                            <a:srgbClr val="000000"/>
                          </a:solidFill>
                        </a:rPr>
                        <a:t>product is good but not working</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000000"/>
                          </a:solidFill>
                        </a:rPr>
                        <a:t>Negative (mixed sentiment)</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300" b="1" dirty="0">
                          <a:solidFill>
                            <a:schemeClr val="accent3"/>
                          </a:solidFill>
                        </a:rPr>
                        <a:t>Screenshot</a:t>
                      </a:r>
                      <a:endParaRPr lang="en-US" sz="1300" dirty="0"/>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9" name="Text 4"/>
          <p:cNvSpPr txBox="1"/>
          <p:nvPr/>
        </p:nvSpPr>
        <p:spPr>
          <a:xfrm>
            <a:off x="548640" y="5943600"/>
            <a:ext cx="8961120" cy="1280160"/>
          </a:xfrm>
          <a:prstGeom prst="rect">
            <a:avLst/>
          </a:prstGeom>
          <a:noFill/>
          <a:ln/>
        </p:spPr>
        <p:txBody>
          <a:bodyPr wrap="square" lIns="635" tIns="635" rIns="635" bIns="635" rtlCol="0" anchor="t"/>
          <a:lstStyle/>
          <a:p>
            <a:pPr marL="342900" indent="-342900">
              <a:spcAft>
                <a:spcPts val="300"/>
              </a:spcAft>
              <a:buSzPct val="100000"/>
              <a:buChar char="•"/>
            </a:pPr>
            <a:r>
              <a:rPr lang="en-US" sz="1300" dirty="0">
                <a:solidFill>
                  <a:schemeClr val="tx1"/>
                </a:solidFill>
              </a:rPr>
              <a:t>Tested on the running Flask app with the same saved model and vectorizers used in normal operation.</a:t>
            </a:r>
            <a:endParaRPr lang="en-US" sz="1300" dirty="0"/>
          </a:p>
          <a:p>
            <a:pPr marL="342900" indent="-342900">
              <a:spcAft>
                <a:spcPts val="300"/>
              </a:spcAft>
              <a:buSzPct val="100000"/>
              <a:buChar char="•"/>
            </a:pPr>
            <a:r>
              <a:rPr lang="en-US" sz="1300" dirty="0">
                <a:solidFill>
                  <a:schemeClr val="tx1"/>
                </a:solidFill>
              </a:rPr>
              <a:t>Every tested sentence received the expected label, including the mixed-sentiment sentence (“not” is kept in the text).</a:t>
            </a:r>
            <a:endParaRPr lang="en-US" sz="1300" dirty="0"/>
          </a:p>
          <a:p>
            <a:pPr marL="342900" indent="-342900">
              <a:spcAft>
                <a:spcPts val="300"/>
              </a:spcAft>
              <a:buSzPct val="100000"/>
              <a:buChar char="•"/>
            </a:pPr>
            <a:r>
              <a:rPr lang="en-US" sz="1300" dirty="0">
                <a:solidFill>
                  <a:schemeClr val="tx1"/>
                </a:solidFill>
              </a:rPr>
              <a:t>The interface shows the label only (no confidence score).</a:t>
            </a:r>
            <a:endParaRPr lang="en-US" sz="13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ill"/>
          <p:cNvSpPr/>
          <p:nvPr/>
        </p:nvSpPr>
        <p:spPr>
          <a:xfrm>
            <a:off x="2377440" y="274320"/>
            <a:ext cx="5303520" cy="457200"/>
          </a:xfrm>
          <a:prstGeom prst="roundRect">
            <a:avLst>
              <a:gd name="adj" fmla="val 40000"/>
            </a:avLst>
          </a:prstGeom>
          <a:solidFill>
            <a:schemeClr val="accent1"/>
          </a:solidFill>
          <a:ln w="12700">
            <a:solidFill>
              <a:schemeClr val="accent1"/>
            </a:solidFill>
            <a:prstDash val="solid"/>
          </a:ln>
        </p:spPr>
      </p:sp>
      <p:sp>
        <p:nvSpPr>
          <p:cNvPr id="3" name="Text 0"/>
          <p:cNvSpPr/>
          <p:nvPr>
            <p:ph idx="101" type="title" hasCustomPrompt="1"/>
          </p:nvPr>
        </p:nvSpPr>
        <p:spPr>
          <a:xfrm>
            <a:off x="2377440" y="274320"/>
            <a:ext cx="5303520" cy="457200"/>
          </a:xfrm>
          <a:prstGeom prst="rect">
            <a:avLst/>
          </a:prstGeom>
          <a:noFill/>
          <a:ln/>
        </p:spPr>
        <p:txBody>
          <a:bodyPr wrap="square" lIns="0" tIns="0" rIns="0" bIns="0" rtlCol="0" anchor="ctr"/>
          <a:lstStyle/>
          <a:p>
            <a:pPr algn="ctr" indent="0" marL="0">
              <a:buNone/>
            </a:pPr>
            <a:r>
              <a:rPr lang="en-US" sz="1600" b="1" dirty="0">
                <a:solidFill>
                  <a:schemeClr val="bg1"/>
                </a:solidFill>
              </a:rPr>
              <a:t>CONCLUSION &amp; LIMITATIONS</a:t>
            </a:r>
            <a:endParaRPr lang="en-US" sz="1600" dirty="0"/>
          </a:p>
        </p:txBody>
      </p:sp>
      <p:sp>
        <p:nvSpPr>
          <p:cNvPr id="4" name="column"/>
          <p:cNvSpPr/>
          <p:nvPr/>
        </p:nvSpPr>
        <p:spPr>
          <a:xfrm>
            <a:off x="548640" y="1005840"/>
            <a:ext cx="4389120" cy="5074920"/>
          </a:xfrm>
          <a:prstGeom prst="roundRect">
            <a:avLst>
              <a:gd name="adj" fmla="val 1667"/>
            </a:avLst>
          </a:prstGeom>
          <a:solidFill>
            <a:schemeClr val="bg2"/>
          </a:solidFill>
          <a:ln w="19050">
            <a:solidFill>
              <a:schemeClr val="accent3"/>
            </a:solidFill>
            <a:prstDash val="solid"/>
          </a:ln>
        </p:spPr>
      </p:sp>
      <p:sp>
        <p:nvSpPr>
          <p:cNvPr id="5" name="Text 3"/>
          <p:cNvSpPr txBox="1"/>
          <p:nvPr/>
        </p:nvSpPr>
        <p:spPr>
          <a:xfrm>
            <a:off x="685800" y="1097280"/>
            <a:ext cx="4114800" cy="365760"/>
          </a:xfrm>
          <a:prstGeom prst="rect">
            <a:avLst/>
          </a:prstGeom>
          <a:noFill/>
          <a:ln/>
        </p:spPr>
        <p:txBody>
          <a:bodyPr wrap="square" lIns="635" tIns="635" rIns="635" bIns="635" rtlCol="0" anchor="t"/>
          <a:lstStyle/>
          <a:p>
            <a:pPr indent="0" marL="0">
              <a:buNone/>
            </a:pPr>
            <a:r>
              <a:rPr lang="en-US" sz="1600" b="1" dirty="0">
                <a:solidFill>
                  <a:schemeClr val="accent3"/>
                </a:solidFill>
              </a:rPr>
              <a:t>CONCLUSION</a:t>
            </a:r>
            <a:endParaRPr lang="en-US" sz="1600" dirty="0"/>
          </a:p>
        </p:txBody>
      </p:sp>
      <p:sp>
        <p:nvSpPr>
          <p:cNvPr id="6" name="Text 4"/>
          <p:cNvSpPr txBox="1"/>
          <p:nvPr/>
        </p:nvSpPr>
        <p:spPr>
          <a:xfrm>
            <a:off x="685800" y="1554480"/>
            <a:ext cx="4114800" cy="4389120"/>
          </a:xfrm>
          <a:prstGeom prst="rect">
            <a:avLst/>
          </a:prstGeom>
          <a:noFill/>
          <a:ln/>
        </p:spPr>
        <p:txBody>
          <a:bodyPr wrap="square" lIns="635" tIns="635" rIns="635" bIns="635" rtlCol="0" anchor="t"/>
          <a:lstStyle/>
          <a:p>
            <a:pPr marL="342900" indent="-342900">
              <a:spcAft>
                <a:spcPts val="1000"/>
              </a:spcAft>
              <a:buSzPct val="100000"/>
              <a:buChar char="•"/>
            </a:pPr>
            <a:r>
              <a:rPr lang="en-US" sz="1500" dirty="0">
                <a:solidFill>
                  <a:schemeClr val="tx1"/>
                </a:solidFill>
              </a:rPr>
              <a:t>A machine-learning sentiment analysis system was developed and tested.</a:t>
            </a:r>
            <a:endParaRPr lang="en-US" sz="1500" dirty="0"/>
          </a:p>
          <a:p>
            <a:pPr marL="342900" indent="-342900">
              <a:spcAft>
                <a:spcPts val="1000"/>
              </a:spcAft>
              <a:buSzPct val="100000"/>
              <a:buChar char="•"/>
            </a:pPr>
            <a:r>
              <a:rPr lang="en-US" sz="1500" dirty="0">
                <a:solidFill>
                  <a:schemeClr val="tx1"/>
                </a:solidFill>
              </a:rPr>
              <a:t>Tweets are cleaned, then represented by Word + Character TF-IDF.</a:t>
            </a:r>
            <a:endParaRPr lang="en-US" sz="1500" dirty="0"/>
          </a:p>
          <a:p>
            <a:pPr marL="342900" indent="-342900">
              <a:spcAft>
                <a:spcPts val="1000"/>
              </a:spcAft>
              <a:buSzPct val="100000"/>
              <a:buChar char="•"/>
            </a:pPr>
            <a:r>
              <a:rPr lang="en-US" sz="1500" dirty="0">
                <a:solidFill>
                  <a:schemeClr val="tx1"/>
                </a:solidFill>
              </a:rPr>
              <a:t>Random Forest (100 trees) reaches 90.94% accuracy on 12,225 unseen tweets.</a:t>
            </a:r>
            <a:endParaRPr lang="en-US" sz="1500" dirty="0"/>
          </a:p>
          <a:p>
            <a:pPr marL="342900" indent="-342900">
              <a:spcAft>
                <a:spcPts val="1000"/>
              </a:spcAft>
              <a:buSzPct val="100000"/>
              <a:buChar char="•"/>
            </a:pPr>
            <a:r>
              <a:rPr lang="en-US" sz="1500" dirty="0">
                <a:solidFill>
                  <a:schemeClr val="tx1"/>
                </a:solidFill>
              </a:rPr>
              <a:t>Macro precision, recall and F1 are all 0.91.</a:t>
            </a:r>
            <a:endParaRPr lang="en-US" sz="1500" dirty="0"/>
          </a:p>
          <a:p>
            <a:pPr marL="342900" indent="-342900">
              <a:spcAft>
                <a:spcPts val="1000"/>
              </a:spcAft>
              <a:buSzPct val="100000"/>
              <a:buChar char="•"/>
            </a:pPr>
            <a:r>
              <a:rPr lang="en-US" sz="1500" dirty="0">
                <a:solidFill>
                  <a:schemeClr val="tx1"/>
                </a:solidFill>
              </a:rPr>
              <a:t>A hybrid rule layer and a Flask interface make it usable by anyone.</a:t>
            </a:r>
            <a:endParaRPr lang="en-US" sz="1500" dirty="0"/>
          </a:p>
        </p:txBody>
      </p:sp>
      <p:sp>
        <p:nvSpPr>
          <p:cNvPr id="7" name="column"/>
          <p:cNvSpPr/>
          <p:nvPr/>
        </p:nvSpPr>
        <p:spPr>
          <a:xfrm>
            <a:off x="5120640" y="1005840"/>
            <a:ext cx="4389120" cy="5074920"/>
          </a:xfrm>
          <a:prstGeom prst="roundRect">
            <a:avLst>
              <a:gd name="adj" fmla="val 1667"/>
            </a:avLst>
          </a:prstGeom>
          <a:solidFill>
            <a:schemeClr val="bg2"/>
          </a:solidFill>
          <a:ln w="19050">
            <a:solidFill>
              <a:schemeClr val="accent4"/>
            </a:solidFill>
            <a:prstDash val="solid"/>
          </a:ln>
        </p:spPr>
      </p:sp>
      <p:sp>
        <p:nvSpPr>
          <p:cNvPr id="8" name="Text 6"/>
          <p:cNvSpPr txBox="1"/>
          <p:nvPr/>
        </p:nvSpPr>
        <p:spPr>
          <a:xfrm>
            <a:off x="5257800" y="1097280"/>
            <a:ext cx="4114800" cy="365760"/>
          </a:xfrm>
          <a:prstGeom prst="rect">
            <a:avLst/>
          </a:prstGeom>
          <a:noFill/>
          <a:ln/>
        </p:spPr>
        <p:txBody>
          <a:bodyPr wrap="square" lIns="635" tIns="635" rIns="635" bIns="635" rtlCol="0" anchor="t"/>
          <a:lstStyle/>
          <a:p>
            <a:pPr indent="0" marL="0">
              <a:buNone/>
            </a:pPr>
            <a:r>
              <a:rPr lang="en-US" sz="1600" b="1" dirty="0">
                <a:solidFill>
                  <a:schemeClr val="accent4"/>
                </a:solidFill>
              </a:rPr>
              <a:t>LIMITATIONS</a:t>
            </a:r>
            <a:endParaRPr lang="en-US" sz="1600" dirty="0"/>
          </a:p>
        </p:txBody>
      </p:sp>
      <p:sp>
        <p:nvSpPr>
          <p:cNvPr id="9" name="Text 7"/>
          <p:cNvSpPr txBox="1"/>
          <p:nvPr/>
        </p:nvSpPr>
        <p:spPr>
          <a:xfrm>
            <a:off x="5257800" y="1554480"/>
            <a:ext cx="4114800" cy="4389120"/>
          </a:xfrm>
          <a:prstGeom prst="rect">
            <a:avLst/>
          </a:prstGeom>
          <a:noFill/>
          <a:ln/>
        </p:spPr>
        <p:txBody>
          <a:bodyPr wrap="square" lIns="635" tIns="635" rIns="635" bIns="635" rtlCol="0" anchor="t"/>
          <a:lstStyle/>
          <a:p>
            <a:pPr marL="342900" indent="-342900">
              <a:spcAft>
                <a:spcPts val="1000"/>
              </a:spcAft>
              <a:buSzPct val="100000"/>
              <a:buChar char="•"/>
            </a:pPr>
            <a:r>
              <a:rPr lang="en-US" sz="1500" dirty="0">
                <a:solidFill>
                  <a:schemeClr val="tx1"/>
                </a:solidFill>
              </a:rPr>
              <a:t>One Random Forest with a rule layer; no other classifiers compared.</a:t>
            </a:r>
            <a:endParaRPr lang="en-US" sz="1500" dirty="0"/>
          </a:p>
          <a:p>
            <a:pPr marL="342900" indent="-342900">
              <a:spcAft>
                <a:spcPts val="1000"/>
              </a:spcAft>
              <a:buSzPct val="100000"/>
              <a:buChar char="•"/>
            </a:pPr>
            <a:r>
              <a:rPr lang="en-US" sz="1500" dirty="0">
                <a:solidFill>
                  <a:schemeClr val="tx1"/>
                </a:solidFill>
              </a:rPr>
              <a:t>Effect of the rule-based layer not measured separately.</a:t>
            </a:r>
            <a:endParaRPr lang="en-US" sz="1500" dirty="0"/>
          </a:p>
          <a:p>
            <a:pPr marL="342900" indent="-342900">
              <a:spcAft>
                <a:spcPts val="1000"/>
              </a:spcAft>
              <a:buSzPct val="100000"/>
              <a:buChar char="•"/>
            </a:pPr>
            <a:r>
              <a:rPr lang="en-US" sz="1500" dirty="0">
                <a:solidFill>
                  <a:schemeClr val="tx1"/>
                </a:solidFill>
              </a:rPr>
              <a:t>Single 80/20 split; no cross-validation.</a:t>
            </a:r>
            <a:endParaRPr lang="en-US" sz="1500" dirty="0"/>
          </a:p>
          <a:p>
            <a:pPr marL="342900" indent="-342900">
              <a:spcAft>
                <a:spcPts val="1000"/>
              </a:spcAft>
              <a:buSzPct val="100000"/>
              <a:buChar char="•"/>
            </a:pPr>
            <a:r>
              <a:rPr lang="en-US" sz="1500" dirty="0">
                <a:solidFill>
                  <a:schemeClr val="tx1"/>
                </a:solidFill>
              </a:rPr>
              <a:t>Near-duplicate rows and noisy labels in the dataset.</a:t>
            </a:r>
            <a:endParaRPr lang="en-US" sz="1500" dirty="0"/>
          </a:p>
          <a:p>
            <a:pPr marL="342900" indent="-342900">
              <a:spcAft>
                <a:spcPts val="1000"/>
              </a:spcAft>
              <a:buSzPct val="100000"/>
              <a:buChar char="•"/>
            </a:pPr>
            <a:r>
              <a:rPr lang="en-US" sz="1500" dirty="0">
                <a:solidFill>
                  <a:schemeClr val="tx1"/>
                </a:solidFill>
              </a:rPr>
              <a:t>Sarcasm and mixed opinions remain hard; video-game tweets only.</a:t>
            </a:r>
            <a:endParaRPr lang="en-US" sz="1500" dirty="0"/>
          </a:p>
          <a:p>
            <a:pPr marL="342900" indent="-342900">
              <a:spcAft>
                <a:spcPts val="1000"/>
              </a:spcAft>
              <a:buSzPct val="100000"/>
              <a:buChar char="•"/>
            </a:pPr>
            <a:r>
              <a:rPr lang="en-US" sz="1500" dirty="0">
                <a:solidFill>
                  <a:schemeClr val="tx1"/>
                </a:solidFill>
              </a:rPr>
              <a:t>Label only, no confidence score.</a:t>
            </a:r>
            <a:endParaRPr lang="en-US" sz="1500" dirty="0"/>
          </a:p>
        </p:txBody>
      </p:sp>
      <p:sp>
        <p:nvSpPr>
          <p:cNvPr id="10" name="overall"/>
          <p:cNvSpPr/>
          <p:nvPr/>
        </p:nvSpPr>
        <p:spPr>
          <a:xfrm>
            <a:off x="548640" y="6263640"/>
            <a:ext cx="8961120" cy="777240"/>
          </a:xfrm>
          <a:prstGeom prst="roundRect">
            <a:avLst>
              <a:gd name="adj" fmla="val 9412"/>
            </a:avLst>
          </a:prstGeom>
          <a:solidFill>
            <a:srgbClr val="FFF3E8"/>
          </a:solidFill>
          <a:ln w="19050">
            <a:solidFill>
              <a:schemeClr val="accent1"/>
            </a:solidFill>
            <a:prstDash val="solid"/>
          </a:ln>
        </p:spPr>
      </p:sp>
      <p:sp>
        <p:nvSpPr>
          <p:cNvPr id="11" name="Text 9"/>
          <p:cNvSpPr txBox="1"/>
          <p:nvPr/>
        </p:nvSpPr>
        <p:spPr>
          <a:xfrm>
            <a:off x="731520" y="6263640"/>
            <a:ext cx="8595360" cy="777240"/>
          </a:xfrm>
          <a:prstGeom prst="rect">
            <a:avLst/>
          </a:prstGeom>
          <a:noFill/>
          <a:ln/>
        </p:spPr>
        <p:txBody>
          <a:bodyPr wrap="square" lIns="635" tIns="635" rIns="635" bIns="635" rtlCol="0" anchor="ctr"/>
          <a:lstStyle/>
          <a:p>
            <a:pPr indent="0" marL="0">
              <a:buNone/>
            </a:pPr>
            <a:r>
              <a:rPr lang="en-US" sz="1400" b="1" dirty="0">
                <a:solidFill>
                  <a:schemeClr val="tx2"/>
                </a:solidFill>
              </a:rPr>
              <a:t>Overall: the project is a working foundation for automated sentiment analysis, with a trained model and a web interface that anyone can use.</a:t>
            </a:r>
            <a:endParaRPr lang="en-US" sz="1400" dirty="0"/>
          </a:p>
        </p:txBody>
      </p:sp>
      <p:sp>
        <p:nvSpPr>
          <p:cNvPr id="25" name="Slide Number Placeholder 0"/>
          <p:cNvSpPr>
            <a:spLocks noGrp="1"/>
          </p:cNvSpPr>
          <p:nvPr>
            <p:ph type="sldNum" sz="quarter" idx="4294967295"/>
          </p:nvPr>
        </p:nvSpPr>
        <p:spPr>
          <a:xfrm>
            <a:off x="9144000" y="73152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logo_wide.jpeg">    </p:cNvPr>
          <p:cNvPicPr>
            <a:picLocks noChangeAspect="1"/>
          </p:cNvPicPr>
          <p:nvPr/>
        </p:nvPicPr>
        <p:blipFill>
          <a:blip r:embed="rId1"/>
          <a:stretch>
            <a:fillRect/>
          </a:stretch>
        </p:blipFill>
        <p:spPr>
          <a:xfrm>
            <a:off x="2057400" y="1371600"/>
            <a:ext cx="5943600" cy="768096"/>
          </a:xfrm>
          <a:prstGeom prst="rect">
            <a:avLst/>
          </a:prstGeom>
        </p:spPr>
      </p:pic>
      <p:sp>
        <p:nvSpPr>
          <p:cNvPr id="3" name="Text 0"/>
          <p:cNvSpPr txBox="1"/>
          <p:nvPr/>
        </p:nvSpPr>
        <p:spPr>
          <a:xfrm>
            <a:off x="731520" y="2926080"/>
            <a:ext cx="8595360" cy="1097280"/>
          </a:xfrm>
          <a:prstGeom prst="rect">
            <a:avLst/>
          </a:prstGeom>
          <a:noFill/>
          <a:ln/>
        </p:spPr>
        <p:txBody>
          <a:bodyPr wrap="square" lIns="635" tIns="635" rIns="635" bIns="635" rtlCol="0" anchor="ctr"/>
          <a:lstStyle/>
          <a:p>
            <a:pPr algn="ctr" indent="0" marL="0">
              <a:buNone/>
            </a:pPr>
            <a:r>
              <a:rPr lang="en-US" sz="4800" b="1" dirty="0">
                <a:solidFill>
                  <a:schemeClr val="accent1"/>
                </a:solidFill>
              </a:rPr>
              <a:t>THANK YOU</a:t>
            </a:r>
            <a:endParaRPr lang="en-US" sz="4800" dirty="0"/>
          </a:p>
        </p:txBody>
      </p:sp>
      <p:sp>
        <p:nvSpPr>
          <p:cNvPr id="4" name="Text 1"/>
          <p:cNvSpPr txBox="1"/>
          <p:nvPr/>
        </p:nvSpPr>
        <p:spPr>
          <a:xfrm>
            <a:off x="731520" y="4114800"/>
            <a:ext cx="8595360" cy="548640"/>
          </a:xfrm>
          <a:prstGeom prst="rect">
            <a:avLst/>
          </a:prstGeom>
          <a:noFill/>
          <a:ln/>
        </p:spPr>
        <p:txBody>
          <a:bodyPr wrap="square" lIns="635" tIns="635" rIns="635" bIns="635" rtlCol="0" anchor="t"/>
          <a:lstStyle/>
          <a:p>
            <a:pPr algn="ctr" indent="0" marL="0">
              <a:buNone/>
            </a:pPr>
            <a:r>
              <a:rPr lang="en-US" sz="2400" dirty="0">
                <a:solidFill>
                  <a:schemeClr val="tx2"/>
                </a:solidFill>
              </a:rPr>
              <a:t>Any Questions?</a:t>
            </a:r>
            <a:endParaRPr lang="en-US" sz="2400" dirty="0"/>
          </a:p>
        </p:txBody>
      </p:sp>
      <p:sp>
        <p:nvSpPr>
          <p:cNvPr id="5" name="Text 2"/>
          <p:cNvSpPr txBox="1"/>
          <p:nvPr/>
        </p:nvSpPr>
        <p:spPr>
          <a:xfrm>
            <a:off x="731520" y="4937760"/>
            <a:ext cx="8595360" cy="457200"/>
          </a:xfrm>
          <a:prstGeom prst="rect">
            <a:avLst/>
          </a:prstGeom>
          <a:noFill/>
          <a:ln/>
        </p:spPr>
        <p:txBody>
          <a:bodyPr wrap="square" lIns="635" tIns="635" rIns="635" bIns="635" rtlCol="0" anchor="t"/>
          <a:lstStyle/>
          <a:p>
            <a:pPr algn="ctr" indent="0" marL="0">
              <a:buNone/>
            </a:pPr>
            <a:r>
              <a:rPr lang="en-US" sz="1800" b="1" dirty="0">
                <a:solidFill>
                  <a:schemeClr val="tx2"/>
                </a:solidFill>
              </a:rPr>
              <a:t>Sentiment Analysis Using Ensemble Learning</a:t>
            </a:r>
            <a:endParaRPr lang="en-US" sz="1800" dirty="0"/>
          </a:p>
        </p:txBody>
      </p:sp>
    </p:spTree>
  </p:cSld>
  <p:clrMapOvr>
    <a:masterClrMapping/>
  </p:clrMapOvr>
</p:sld>
</file>

<file path=ppt/theme/theme1.xml><?xml version="1.0" encoding="utf-8"?>
<a:theme xmlns:a="http://schemas.openxmlformats.org/drawingml/2006/main" name="Aditya Final Review">
  <a:themeElements>
    <a:clrScheme name="Aditya Final Review">
      <a:dk1>
        <a:srgbClr val="333333"/>
      </a:dk1>
      <a:lt1>
        <a:srgbClr val="FFFFFF"/>
      </a:lt1>
      <a:dk2>
        <a:srgbClr val="17375E"/>
      </a:dk2>
      <a:lt2>
        <a:srgbClr val="F3F6FA"/>
      </a:lt2>
      <a:accent1>
        <a:srgbClr val="FF6600"/>
      </a:accent1>
      <a:accent2>
        <a:srgbClr val="17375E"/>
      </a:accent2>
      <a:accent3>
        <a:srgbClr val="1E8449"/>
      </a:accent3>
      <a:accent4>
        <a:srgbClr val="943735"/>
      </a:accent4>
      <a:accent5>
        <a:srgbClr val="5B7DB1"/>
      </a:accent5>
      <a:accent6>
        <a:srgbClr val="F0A04B"/>
      </a:accent6>
      <a:hlink>
        <a:srgbClr val="17375E"/>
      </a:hlink>
      <a:folHlink>
        <a:srgbClr val="943735"/>
      </a:folHlink>
    </a:clrScheme>
    <a:fontScheme name="Aditya Final Revie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 Using Ensemble Learning - Final Review</dc:title>
  <dc:subject>PptxGenJS Presentation</dc:subject>
  <dc:creator>PptxGenJS</dc:creator>
  <cp:lastModifiedBy>PptxGenJS</cp:lastModifiedBy>
  <cp:revision>1</cp:revision>
  <dcterms:created xsi:type="dcterms:W3CDTF">2026-10-25T10:34:36Z</dcterms:created>
  <dcterms:modified xsi:type="dcterms:W3CDTF">2026-10-25T10:34:36Z</dcterms:modified>
</cp:coreProperties>
</file>